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1"/>
  </p:sldMasterIdLst>
  <p:notesMasterIdLst>
    <p:notesMasterId r:id="rId3"/>
  </p:notesMasterIdLst>
  <p:sldIdLst>
    <p:sldId id="259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2C017A-B38B-5BF3-A841-2B17889D35AF}" name="Indra Boving" initials="IB" userId="S::bovingi@ucsb.edu::d8ed0569-a6d4-4a82-9f4d-0799530c35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9B95"/>
    <a:srgbClr val="B8860B"/>
    <a:srgbClr val="E8846C"/>
    <a:srgbClr val="ECE7E2"/>
    <a:srgbClr val="9F7491"/>
    <a:srgbClr val="797ED6"/>
    <a:srgbClr val="B788A7"/>
    <a:srgbClr val="F6A162"/>
    <a:srgbClr val="AF6053"/>
    <a:srgbClr val="2A9C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283"/>
    <p:restoredTop sz="96932"/>
  </p:normalViewPr>
  <p:slideViewPr>
    <p:cSldViewPr snapToGrid="0" snapToObjects="1">
      <p:cViewPr varScale="1">
        <p:scale>
          <a:sx n="25" d="100"/>
          <a:sy n="25" d="100"/>
        </p:scale>
        <p:origin x="22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9DA6F-FBF0-DF48-AC61-FDAD57D9A0A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D2AA8-99A4-D142-8736-DEA3951AD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61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312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624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29936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248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6561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59873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3184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6496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ggsave</a:t>
            </a:r>
            <a:r>
              <a:rPr lang="en-US" dirty="0"/>
              <a:t>(plot = </a:t>
            </a:r>
            <a:r>
              <a:rPr lang="en-US" dirty="0" err="1"/>
              <a:t>alas_size_spp</a:t>
            </a:r>
            <a:r>
              <a:rPr lang="en-US" dirty="0"/>
              <a:t>, #plot name</a:t>
            </a:r>
          </a:p>
          <a:p>
            <a:r>
              <a:rPr lang="en-US" dirty="0"/>
              <a:t>       filename = here::here("figures", "</a:t>
            </a:r>
            <a:r>
              <a:rPr lang="en-US" dirty="0" err="1"/>
              <a:t>trait_data</a:t>
            </a:r>
            <a:r>
              <a:rPr lang="en-US" dirty="0"/>
              <a:t>"),#where to save to "</a:t>
            </a:r>
            <a:r>
              <a:rPr lang="en-US" dirty="0" err="1"/>
              <a:t>alas_size_spp.jpg</a:t>
            </a:r>
            <a:r>
              <a:rPr lang="en-US" dirty="0"/>
              <a:t>"), </a:t>
            </a:r>
          </a:p>
          <a:p>
            <a:r>
              <a:rPr lang="en-US" dirty="0"/>
              <a:t>                             width = 5, </a:t>
            </a:r>
          </a:p>
          <a:p>
            <a:r>
              <a:rPr lang="en-US" dirty="0"/>
              <a:t>                             height = 8,</a:t>
            </a:r>
          </a:p>
          <a:p>
            <a:r>
              <a:rPr lang="en-US" dirty="0"/>
              <a:t>       dpi = 600, </a:t>
            </a:r>
          </a:p>
          <a:p>
            <a:r>
              <a:rPr lang="en-US" dirty="0"/>
              <a:t>       units = "cm" #"in</a:t>
            </a:r>
          </a:p>
          <a:p>
            <a:r>
              <a:rPr lang="en-US" dirty="0"/>
              <a:t>      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D2AA8-99A4-D142-8736-DEA3951AD1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70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054-BB2E-5C48-9E53-8935A6C4B66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FBEB3-8EC2-924A-BF33-856F5C4E2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33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054-BB2E-5C48-9E53-8935A6C4B66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FBEB3-8EC2-924A-BF33-856F5C4E2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64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054-BB2E-5C48-9E53-8935A6C4B66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FBEB3-8EC2-924A-BF33-856F5C4E2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52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054-BB2E-5C48-9E53-8935A6C4B66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FBEB3-8EC2-924A-BF33-856F5C4E2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30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054-BB2E-5C48-9E53-8935A6C4B66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FBEB3-8EC2-924A-BF33-856F5C4E2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13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054-BB2E-5C48-9E53-8935A6C4B66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FBEB3-8EC2-924A-BF33-856F5C4E2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2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054-BB2E-5C48-9E53-8935A6C4B66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FBEB3-8EC2-924A-BF33-856F5C4E2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6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054-BB2E-5C48-9E53-8935A6C4B66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FBEB3-8EC2-924A-BF33-856F5C4E2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43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054-BB2E-5C48-9E53-8935A6C4B66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FBEB3-8EC2-924A-BF33-856F5C4E2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62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054-BB2E-5C48-9E53-8935A6C4B66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FBEB3-8EC2-924A-BF33-856F5C4E2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41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054-BB2E-5C48-9E53-8935A6C4B66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FBEB3-8EC2-924A-BF33-856F5C4E2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10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9D3604F-61E0-8747-8819-8D0704C9B005}"/>
              </a:ext>
            </a:extLst>
          </p:cNvPr>
          <p:cNvSpPr/>
          <p:nvPr userDrawn="1"/>
        </p:nvSpPr>
        <p:spPr>
          <a:xfrm>
            <a:off x="936326" y="20611047"/>
            <a:ext cx="2837981" cy="30093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4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D03C6-9B9F-7146-B31A-43709873DC23}"/>
              </a:ext>
            </a:extLst>
          </p:cNvPr>
          <p:cNvSpPr txBox="1"/>
          <p:nvPr userDrawn="1"/>
        </p:nvSpPr>
        <p:spPr>
          <a:xfrm>
            <a:off x="1102761" y="21132977"/>
            <a:ext cx="2538255" cy="723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741"/>
              </a:spcAft>
            </a:pPr>
            <a:r>
              <a:rPr lang="en-US" sz="2051" b="1" dirty="0">
                <a:solidFill>
                  <a:srgbClr val="333333"/>
                </a:solidFill>
                <a:latin typeface="+mj-lt"/>
              </a:rPr>
              <a:t>Template by </a:t>
            </a:r>
            <a:br>
              <a:rPr lang="en-US" sz="2051" b="1" dirty="0">
                <a:solidFill>
                  <a:srgbClr val="333333"/>
                </a:solidFill>
                <a:latin typeface="+mj-lt"/>
              </a:rPr>
            </a:br>
            <a:r>
              <a:rPr lang="en-US" sz="2051" b="1" dirty="0">
                <a:solidFill>
                  <a:srgbClr val="333333"/>
                </a:solidFill>
                <a:latin typeface="+mj-lt"/>
              </a:rPr>
              <a:t>Animate Your Science</a:t>
            </a:r>
            <a:endParaRPr lang="en-US" sz="1230" dirty="0">
              <a:solidFill>
                <a:srgbClr val="333333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3C1778-E44E-5443-91BC-91AB5AA66C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9142" y="21945574"/>
            <a:ext cx="2298450" cy="97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9E054-BB2E-5C48-9E53-8935A6C4B66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FBEB3-8EC2-924A-BF33-856F5C4E2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81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9B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27">
            <a:extLst>
              <a:ext uri="{FF2B5EF4-FFF2-40B4-BE49-F238E27FC236}">
                <a16:creationId xmlns:a16="http://schemas.microsoft.com/office/drawing/2014/main" id="{0C97C263-44F4-F547-A1FF-DB1549A85221}"/>
              </a:ext>
            </a:extLst>
          </p:cNvPr>
          <p:cNvSpPr/>
          <p:nvPr/>
        </p:nvSpPr>
        <p:spPr>
          <a:xfrm>
            <a:off x="28963287" y="4465798"/>
            <a:ext cx="14680836" cy="19759516"/>
          </a:xfrm>
          <a:prstGeom prst="rect">
            <a:avLst/>
          </a:prstGeom>
          <a:solidFill>
            <a:srgbClr val="EC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319" tIns="33160" rIns="66319" bIns="33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>
              <a:spcAft>
                <a:spcPts val="1741"/>
              </a:spcAft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35445B9-8C33-EF99-4943-E6AE131DFEC5}"/>
              </a:ext>
            </a:extLst>
          </p:cNvPr>
          <p:cNvSpPr/>
          <p:nvPr/>
        </p:nvSpPr>
        <p:spPr>
          <a:xfrm>
            <a:off x="13875874" y="4465798"/>
            <a:ext cx="14794078" cy="28187537"/>
          </a:xfrm>
          <a:prstGeom prst="rect">
            <a:avLst/>
          </a:prstGeom>
          <a:solidFill>
            <a:srgbClr val="EC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319" tIns="33160" rIns="66319" bIns="33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741"/>
              </a:spcAft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>
              <a:spcAft>
                <a:spcPts val="1741"/>
              </a:spcAft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01801A5-85B7-8C2B-9BE8-F83C6BC2D4CB}"/>
              </a:ext>
            </a:extLst>
          </p:cNvPr>
          <p:cNvSpPr/>
          <p:nvPr/>
        </p:nvSpPr>
        <p:spPr>
          <a:xfrm>
            <a:off x="28963287" y="24460451"/>
            <a:ext cx="14680836" cy="5419103"/>
          </a:xfrm>
          <a:prstGeom prst="rect">
            <a:avLst/>
          </a:prstGeom>
          <a:solidFill>
            <a:srgbClr val="2846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319" tIns="33160" rIns="66319" bIns="33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741"/>
              </a:spcAft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>
              <a:spcAft>
                <a:spcPts val="1741"/>
              </a:spcAft>
            </a:pPr>
            <a:endParaRPr lang="en-US" sz="4922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F9E1D97-7075-1541-ADF9-B82B774D895B}"/>
              </a:ext>
            </a:extLst>
          </p:cNvPr>
          <p:cNvSpPr/>
          <p:nvPr/>
        </p:nvSpPr>
        <p:spPr>
          <a:xfrm>
            <a:off x="235324" y="4465798"/>
            <a:ext cx="13323428" cy="7060889"/>
          </a:xfrm>
          <a:prstGeom prst="rect">
            <a:avLst/>
          </a:prstGeom>
          <a:solidFill>
            <a:srgbClr val="EC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319" tIns="33160" rIns="66319" bIns="33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741"/>
              </a:spcAft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333333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0A097AEA-9B08-8F4E-B7BD-3A5DAA271FD0}"/>
              </a:ext>
            </a:extLst>
          </p:cNvPr>
          <p:cNvSpPr/>
          <p:nvPr/>
        </p:nvSpPr>
        <p:spPr>
          <a:xfrm>
            <a:off x="247077" y="11769753"/>
            <a:ext cx="13311675" cy="20793082"/>
          </a:xfrm>
          <a:prstGeom prst="rect">
            <a:avLst/>
          </a:prstGeom>
          <a:solidFill>
            <a:srgbClr val="EC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319" tIns="33160" rIns="66319" bIns="33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741"/>
              </a:spcAft>
            </a:pPr>
            <a:endParaRPr lang="en-US" sz="4922" dirty="0">
              <a:solidFill>
                <a:srgbClr val="002060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002060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002060"/>
              </a:solidFill>
              <a:latin typeface="+mj-lt"/>
            </a:endParaRPr>
          </a:p>
          <a:p>
            <a:pPr marL="207235" indent="-207235">
              <a:spcAft>
                <a:spcPts val="1741"/>
              </a:spcAft>
              <a:buFont typeface="Arial" panose="020B0604020202020204" pitchFamily="34" charset="0"/>
              <a:buChar char="•"/>
            </a:pPr>
            <a:endParaRPr lang="en-US" sz="4922" dirty="0">
              <a:solidFill>
                <a:srgbClr val="002060"/>
              </a:solidFill>
              <a:latin typeface="+mj-lt"/>
            </a:endParaRPr>
          </a:p>
          <a:p>
            <a:pPr>
              <a:spcAft>
                <a:spcPts val="1741"/>
              </a:spcAft>
            </a:pPr>
            <a:endParaRPr lang="en-US" sz="4922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8F8812-5BD0-EC44-A3B0-BD50B1963FB7}"/>
              </a:ext>
            </a:extLst>
          </p:cNvPr>
          <p:cNvSpPr/>
          <p:nvPr/>
        </p:nvSpPr>
        <p:spPr>
          <a:xfrm>
            <a:off x="-1" y="265065"/>
            <a:ext cx="43891201" cy="3957667"/>
          </a:xfrm>
          <a:prstGeom prst="rect">
            <a:avLst/>
          </a:prstGeom>
          <a:solidFill>
            <a:srgbClr val="2A9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5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D3A93-FFBA-7646-9FAB-4A3C02EF07E9}"/>
              </a:ext>
            </a:extLst>
          </p:cNvPr>
          <p:cNvSpPr txBox="1"/>
          <p:nvPr/>
        </p:nvSpPr>
        <p:spPr>
          <a:xfrm>
            <a:off x="313432" y="347328"/>
            <a:ext cx="32181853" cy="28623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9000" b="1" dirty="0">
                <a:solidFill>
                  <a:srgbClr val="ECE7E2"/>
                </a:solidFill>
                <a:latin typeface="+mj-lt"/>
                <a:ea typeface="Verdana" panose="020B0604030504040204" pitchFamily="34" charset="0"/>
                <a:cs typeface="Calibri" panose="020F0502020204030204" pitchFamily="34" charset="0"/>
              </a:rPr>
              <a:t>Quantifying leaf angle and its relationship to water availability from two California oak species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B8093F3-DA3B-3B43-92BA-CBA138DAFE9E}"/>
              </a:ext>
            </a:extLst>
          </p:cNvPr>
          <p:cNvSpPr/>
          <p:nvPr/>
        </p:nvSpPr>
        <p:spPr>
          <a:xfrm>
            <a:off x="28963287" y="30151495"/>
            <a:ext cx="14680836" cy="2501841"/>
          </a:xfrm>
          <a:prstGeom prst="rect">
            <a:avLst/>
          </a:prstGeom>
          <a:solidFill>
            <a:srgbClr val="EC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319" tIns="33160" rIns="66319" bIns="33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600" b="1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B9A1A8C-C1BE-1E45-9FC3-ECF6B6661F7F}"/>
              </a:ext>
            </a:extLst>
          </p:cNvPr>
          <p:cNvSpPr txBox="1"/>
          <p:nvPr/>
        </p:nvSpPr>
        <p:spPr>
          <a:xfrm>
            <a:off x="33050931" y="4613775"/>
            <a:ext cx="65415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741"/>
              </a:spcAft>
            </a:pPr>
            <a:r>
              <a:rPr lang="en-US" sz="6000" b="1" dirty="0">
                <a:solidFill>
                  <a:srgbClr val="284655"/>
                </a:solidFill>
              </a:rPr>
              <a:t>RESULTS: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C0DD0B7-68BC-CC44-9FAC-D95A3A9F0A54}"/>
              </a:ext>
            </a:extLst>
          </p:cNvPr>
          <p:cNvSpPr txBox="1"/>
          <p:nvPr/>
        </p:nvSpPr>
        <p:spPr>
          <a:xfrm>
            <a:off x="2603852" y="11874315"/>
            <a:ext cx="89745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741"/>
              </a:spcAft>
            </a:pPr>
            <a:r>
              <a:rPr lang="en-US" sz="6000" b="1" dirty="0">
                <a:solidFill>
                  <a:srgbClr val="284655"/>
                </a:solidFill>
              </a:rPr>
              <a:t>QUESTIONS/HYPOTHESES:</a:t>
            </a:r>
          </a:p>
        </p:txBody>
      </p:sp>
      <p:sp>
        <p:nvSpPr>
          <p:cNvPr id="51" name="AutoShape 8">
            <a:extLst>
              <a:ext uri="{FF2B5EF4-FFF2-40B4-BE49-F238E27FC236}">
                <a16:creationId xmlns:a16="http://schemas.microsoft.com/office/drawing/2014/main" id="{28DFF3B2-DB3F-97BD-0706-BC5D79A5F2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93200" y="1630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AutoShape 12">
            <a:extLst>
              <a:ext uri="{FF2B5EF4-FFF2-40B4-BE49-F238E27FC236}">
                <a16:creationId xmlns:a16="http://schemas.microsoft.com/office/drawing/2014/main" id="{4B7736B4-2F66-582F-A748-ACE78410DB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45600" y="16459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B0E8398-C137-4C79-C265-B4C5611B1E6D}"/>
              </a:ext>
            </a:extLst>
          </p:cNvPr>
          <p:cNvSpPr txBox="1"/>
          <p:nvPr/>
        </p:nvSpPr>
        <p:spPr>
          <a:xfrm>
            <a:off x="3820339" y="4498158"/>
            <a:ext cx="6541588" cy="1133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741"/>
              </a:spcAft>
            </a:pPr>
            <a:r>
              <a:rPr lang="en-US" sz="6000" b="1" dirty="0">
                <a:solidFill>
                  <a:srgbClr val="284655"/>
                </a:solidFill>
              </a:rPr>
              <a:t>BACKGROUND</a:t>
            </a:r>
            <a:r>
              <a:rPr lang="en-US" sz="6768" b="1" dirty="0">
                <a:solidFill>
                  <a:srgbClr val="284655"/>
                </a:solidFill>
              </a:rPr>
              <a:t>: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5AD9329-DCFA-2667-EEE0-05988447A873}"/>
              </a:ext>
            </a:extLst>
          </p:cNvPr>
          <p:cNvSpPr txBox="1"/>
          <p:nvPr/>
        </p:nvSpPr>
        <p:spPr>
          <a:xfrm>
            <a:off x="29147669" y="24560890"/>
            <a:ext cx="669523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741"/>
              </a:spcAft>
            </a:pPr>
            <a:r>
              <a:rPr lang="en-US" sz="4500" b="1" dirty="0">
                <a:solidFill>
                  <a:srgbClr val="ECE7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4500" b="1" dirty="0">
                <a:solidFill>
                  <a:srgbClr val="ECE7E2"/>
                </a:solidFill>
              </a:rPr>
              <a:t>: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2321696-FCE6-3742-8D12-C5EDED447AFD}"/>
              </a:ext>
            </a:extLst>
          </p:cNvPr>
          <p:cNvSpPr txBox="1"/>
          <p:nvPr/>
        </p:nvSpPr>
        <p:spPr>
          <a:xfrm>
            <a:off x="18680711" y="4613775"/>
            <a:ext cx="51844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741"/>
              </a:spcAft>
            </a:pPr>
            <a:r>
              <a:rPr lang="en-US" sz="6000" b="1" dirty="0">
                <a:solidFill>
                  <a:schemeClr val="bg2">
                    <a:lumMod val="25000"/>
                  </a:schemeClr>
                </a:solidFill>
              </a:rPr>
              <a:t>METHODS:</a:t>
            </a:r>
            <a:endParaRPr lang="en-US" sz="4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D000B35B-295E-3964-A67F-416DDF8C39DF}"/>
              </a:ext>
            </a:extLst>
          </p:cNvPr>
          <p:cNvSpPr txBox="1"/>
          <p:nvPr/>
        </p:nvSpPr>
        <p:spPr>
          <a:xfrm>
            <a:off x="315012" y="3128023"/>
            <a:ext cx="2848136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ECE7E2"/>
                </a:solidFill>
                <a:latin typeface="+mj-lt"/>
                <a:ea typeface="Verdana" panose="020B0604030504040204" pitchFamily="34" charset="0"/>
                <a:cs typeface="Calibri" panose="020F0502020204030204" pitchFamily="34" charset="0"/>
              </a:rPr>
              <a:t>Steven Le, Indra </a:t>
            </a:r>
            <a:r>
              <a:rPr lang="en-US" sz="5000" b="1" dirty="0" err="1">
                <a:solidFill>
                  <a:srgbClr val="ECE7E2"/>
                </a:solidFill>
                <a:latin typeface="+mj-lt"/>
                <a:ea typeface="Verdana" panose="020B0604030504040204" pitchFamily="34" charset="0"/>
                <a:cs typeface="Calibri" panose="020F0502020204030204" pitchFamily="34" charset="0"/>
              </a:rPr>
              <a:t>Boving</a:t>
            </a:r>
            <a:r>
              <a:rPr lang="en-US" sz="5000" b="1" dirty="0">
                <a:solidFill>
                  <a:srgbClr val="ECE7E2"/>
                </a:solidFill>
                <a:latin typeface="+mj-lt"/>
                <a:ea typeface="Verdana" panose="020B0604030504040204" pitchFamily="34" charset="0"/>
                <a:cs typeface="Calibri" panose="020F0502020204030204" pitchFamily="34" charset="0"/>
              </a:rPr>
              <a:t>, Leander Anderegg</a:t>
            </a:r>
          </a:p>
          <a:p>
            <a:endParaRPr lang="en-US" sz="6000" dirty="0"/>
          </a:p>
        </p:txBody>
      </p:sp>
      <p:pic>
        <p:nvPicPr>
          <p:cNvPr id="9" name="Picture 8" descr="A blue circle with a book and a star&#10;&#10;AI-generated content may be incorrect.">
            <a:extLst>
              <a:ext uri="{FF2B5EF4-FFF2-40B4-BE49-F238E27FC236}">
                <a16:creationId xmlns:a16="http://schemas.microsoft.com/office/drawing/2014/main" id="{7DF575A2-B584-46A5-595B-CF95AAE6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2139" y="486873"/>
            <a:ext cx="3514049" cy="3514049"/>
          </a:xfrm>
          <a:prstGeom prst="rect">
            <a:avLst/>
          </a:prstGeom>
        </p:spPr>
      </p:pic>
      <p:pic>
        <p:nvPicPr>
          <p:cNvPr id="11" name="Picture 10" descr="A logo of a mountain and a planet&#10;&#10;AI-generated content may be incorrect.">
            <a:extLst>
              <a:ext uri="{FF2B5EF4-FFF2-40B4-BE49-F238E27FC236}">
                <a16:creationId xmlns:a16="http://schemas.microsoft.com/office/drawing/2014/main" id="{29395F50-7EAC-6318-0ED0-AE6F05BD7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9460" y="486873"/>
            <a:ext cx="7326164" cy="3514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4D3571-ED9D-EEBC-7B57-1586DC745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45614" y="5777415"/>
            <a:ext cx="10516181" cy="74355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643811-F374-7419-AA01-E0CF749460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45611" y="14794274"/>
            <a:ext cx="10516181" cy="74355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850ECF-67EB-93D6-707E-0E07BC6504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78444" y="22536746"/>
            <a:ext cx="12188938" cy="86182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7A0D26C-F5F5-5973-ED75-DBD5645490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78444" y="15193042"/>
            <a:ext cx="12194511" cy="68334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1EC5854-1A6D-044E-2605-67EE36BCD43B}"/>
              </a:ext>
            </a:extLst>
          </p:cNvPr>
          <p:cNvSpPr txBox="1"/>
          <p:nvPr/>
        </p:nvSpPr>
        <p:spPr>
          <a:xfrm>
            <a:off x="15178444" y="31276530"/>
            <a:ext cx="12188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Figure 1. Water potential for coast live oaks, </a:t>
            </a:r>
            <a:r>
              <a:rPr lang="en-US" sz="3000" i="1" dirty="0"/>
              <a:t>Quercus </a:t>
            </a:r>
            <a:r>
              <a:rPr lang="en-US" sz="3000" i="1" dirty="0" err="1"/>
              <a:t>agrifolia</a:t>
            </a:r>
            <a:r>
              <a:rPr lang="en-US" sz="3000" dirty="0"/>
              <a:t>, and blue oaks, </a:t>
            </a:r>
            <a:r>
              <a:rPr lang="en-US" sz="3000" i="1" dirty="0"/>
              <a:t>Quercus </a:t>
            </a:r>
            <a:r>
              <a:rPr lang="en-US" sz="3000" i="1" dirty="0" err="1"/>
              <a:t>douglasii</a:t>
            </a:r>
            <a:r>
              <a:rPr lang="en-US" sz="3000" dirty="0"/>
              <a:t>, at different times of the day for three years.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E474CA-C72E-E684-CA3F-8203346DBD02}"/>
              </a:ext>
            </a:extLst>
          </p:cNvPr>
          <p:cNvSpPr txBox="1"/>
          <p:nvPr/>
        </p:nvSpPr>
        <p:spPr>
          <a:xfrm>
            <a:off x="31045612" y="13365274"/>
            <a:ext cx="105161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cs typeface="Calibri" panose="020F0502020204030204" pitchFamily="34" charset="0"/>
              </a:rPr>
              <a:t>Figure 2. Average leaf angles between </a:t>
            </a:r>
            <a:r>
              <a:rPr lang="en-US" sz="3000" dirty="0"/>
              <a:t>coast live oaks, </a:t>
            </a:r>
            <a:r>
              <a:rPr lang="en-US" sz="3000" i="1" dirty="0"/>
              <a:t>Quercus </a:t>
            </a:r>
            <a:r>
              <a:rPr lang="en-US" sz="3000" i="1" dirty="0" err="1"/>
              <a:t>agrifolia</a:t>
            </a:r>
            <a:r>
              <a:rPr lang="en-US" sz="3000" dirty="0"/>
              <a:t>, and blue oaks, </a:t>
            </a:r>
            <a:r>
              <a:rPr lang="en-US" sz="3000" i="1" dirty="0"/>
              <a:t>Quercus </a:t>
            </a:r>
            <a:r>
              <a:rPr lang="en-US" sz="3000" i="1" dirty="0" err="1"/>
              <a:t>douglasii</a:t>
            </a:r>
            <a:r>
              <a:rPr lang="en-US" sz="3000" dirty="0"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2A3A2D-2C61-2199-80C3-9BBD363AF146}"/>
              </a:ext>
            </a:extLst>
          </p:cNvPr>
          <p:cNvSpPr txBox="1"/>
          <p:nvPr/>
        </p:nvSpPr>
        <p:spPr>
          <a:xfrm>
            <a:off x="31045611" y="22333804"/>
            <a:ext cx="105161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cs typeface="Calibri" panose="020F0502020204030204" pitchFamily="34" charset="0"/>
              </a:rPr>
              <a:t>Figure 2. Average water potential at predawn in comparison to average leaf angles for </a:t>
            </a:r>
            <a:r>
              <a:rPr lang="en-US" sz="3000" dirty="0"/>
              <a:t>coast live oaks, </a:t>
            </a:r>
            <a:r>
              <a:rPr lang="en-US" sz="3000" i="1" dirty="0"/>
              <a:t>Quercus </a:t>
            </a:r>
            <a:r>
              <a:rPr lang="en-US" sz="3000" i="1" dirty="0" err="1"/>
              <a:t>agrifolia</a:t>
            </a:r>
            <a:r>
              <a:rPr lang="en-US" sz="3000" dirty="0"/>
              <a:t>, and blue oaks, </a:t>
            </a:r>
            <a:r>
              <a:rPr lang="en-US" sz="3000" i="1" dirty="0"/>
              <a:t>Quercus </a:t>
            </a:r>
            <a:r>
              <a:rPr lang="en-US" sz="3000" i="1" dirty="0" err="1"/>
              <a:t>douglasii</a:t>
            </a:r>
            <a:r>
              <a:rPr lang="en-US" sz="3000" dirty="0">
                <a:cs typeface="Calibri" panose="020F0502020204030204" pitchFamily="34" charset="0"/>
              </a:rPr>
              <a:t>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E1C01-6755-9071-3D49-4AFA60431A7F}"/>
              </a:ext>
            </a:extLst>
          </p:cNvPr>
          <p:cNvSpPr txBox="1"/>
          <p:nvPr/>
        </p:nvSpPr>
        <p:spPr>
          <a:xfrm>
            <a:off x="29147669" y="25345720"/>
            <a:ext cx="1442851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>
                <a:solidFill>
                  <a:schemeClr val="bg1"/>
                </a:solidFill>
              </a:rPr>
              <a:t>No relationship between leaf angle and drought stress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>
                <a:solidFill>
                  <a:schemeClr val="bg1"/>
                </a:solidFill>
              </a:rPr>
              <a:t>Blue oaks show greater drought stress in comparison to coast live oaks for July in all three years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>
                <a:solidFill>
                  <a:schemeClr val="bg1"/>
                </a:solidFill>
              </a:rPr>
              <a:t>High variability in leaf angle for each individual tree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>
                <a:solidFill>
                  <a:schemeClr val="bg1"/>
                </a:solidFill>
              </a:rPr>
              <a:t>Need more data collection and samples of leaf angle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>
                <a:solidFill>
                  <a:schemeClr val="bg1"/>
                </a:solidFill>
              </a:rPr>
              <a:t>Direct vs. indirect methods for measuring leaf angle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5DD37-A2F6-2FB6-5568-2CA554151956}"/>
              </a:ext>
            </a:extLst>
          </p:cNvPr>
          <p:cNvSpPr txBox="1"/>
          <p:nvPr/>
        </p:nvSpPr>
        <p:spPr>
          <a:xfrm>
            <a:off x="28963286" y="30114691"/>
            <a:ext cx="14612901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/>
              <a:t>1. Holder, C. D. (2012). The relationship between leaf hydrophobicity, water droplet retention, and leaf angle of common species in a semi-arid region of the western United States. </a:t>
            </a:r>
            <a:r>
              <a:rPr lang="en-US" sz="2300" i="1" dirty="0"/>
              <a:t>Agricultural and Forest Meteorology</a:t>
            </a:r>
            <a:r>
              <a:rPr lang="en-US" sz="2300" dirty="0"/>
              <a:t>, </a:t>
            </a:r>
            <a:r>
              <a:rPr lang="en-US" sz="2300" i="1" dirty="0"/>
              <a:t>152</a:t>
            </a:r>
            <a:r>
              <a:rPr lang="en-US" sz="2300" dirty="0"/>
              <a:t>(1), 11–16. https://</a:t>
            </a:r>
            <a:r>
              <a:rPr lang="en-US" sz="2300" dirty="0" err="1"/>
              <a:t>doi.org</a:t>
            </a:r>
            <a:r>
              <a:rPr lang="en-US" sz="2300" dirty="0"/>
              <a:t>/10.1016/j.agrformet.2011.08.005</a:t>
            </a:r>
          </a:p>
          <a:p>
            <a:r>
              <a:rPr lang="en-US" sz="2300" dirty="0"/>
              <a:t>2. Li, S., Fang, H., &amp; Zhang, Y. (2023). Determination of the Leaf Inclination Angle (LIA) through Field and Remote Sensing Methods: Current Status and Future Prospects. </a:t>
            </a:r>
            <a:r>
              <a:rPr lang="en-US" sz="2300" i="1" dirty="0"/>
              <a:t>Remote Sensing</a:t>
            </a:r>
            <a:r>
              <a:rPr lang="en-US" sz="2300" dirty="0"/>
              <a:t>, </a:t>
            </a:r>
            <a:r>
              <a:rPr lang="en-US" sz="2300" i="1" dirty="0"/>
              <a:t>15</a:t>
            </a:r>
            <a:r>
              <a:rPr lang="en-US" sz="2300" dirty="0"/>
              <a:t>(4), 946. https://</a:t>
            </a:r>
            <a:r>
              <a:rPr lang="en-US" sz="2300" dirty="0" err="1"/>
              <a:t>doi.org</a:t>
            </a:r>
            <a:r>
              <a:rPr lang="en-US" sz="2300" dirty="0"/>
              <a:t>/10.3390/rs15040946</a:t>
            </a:r>
          </a:p>
          <a:p>
            <a:r>
              <a:rPr lang="en-US" sz="2300" dirty="0"/>
              <a:t>3. McNeil, B. E., </a:t>
            </a:r>
            <a:r>
              <a:rPr lang="en-US" sz="2300" dirty="0" err="1"/>
              <a:t>Písek</a:t>
            </a:r>
            <a:r>
              <a:rPr lang="en-US" sz="2300" dirty="0"/>
              <a:t>, J., Harald Lepisk, &amp; Flamenco, E. A. (2016). Measuring leaf angle distribution in broadleaf canopies using UAVs. </a:t>
            </a:r>
            <a:r>
              <a:rPr lang="en-US" sz="2300" i="1" dirty="0"/>
              <a:t>Agricultural and Forest Meteorology</a:t>
            </a:r>
            <a:r>
              <a:rPr lang="en-US" sz="2300" dirty="0"/>
              <a:t>, </a:t>
            </a:r>
            <a:r>
              <a:rPr lang="en-US" sz="2300" i="1" dirty="0"/>
              <a:t>218-219</a:t>
            </a:r>
            <a:r>
              <a:rPr lang="en-US" sz="2300" dirty="0"/>
              <a:t>, 204–208. https://</a:t>
            </a:r>
            <a:r>
              <a:rPr lang="en-US" sz="2300" dirty="0" err="1"/>
              <a:t>doi.org</a:t>
            </a:r>
            <a:r>
              <a:rPr lang="en-US" sz="2300" dirty="0"/>
              <a:t>/10.1016/j.agrformet.2015.12.058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740396-11FD-3966-9AE2-72DC82C78FFA}"/>
              </a:ext>
            </a:extLst>
          </p:cNvPr>
          <p:cNvSpPr txBox="1"/>
          <p:nvPr/>
        </p:nvSpPr>
        <p:spPr>
          <a:xfrm>
            <a:off x="531584" y="5588017"/>
            <a:ext cx="12843768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Climate change has led to rising temperatures and more severe droughts in California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Native oak species are prevalent in California’s woodlands, where they have had to develop responses to new stressors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Leaf angle is important In hot and dry climates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Leaf angle adjustment in oak species may be a response to high drought stress conditions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500" dirty="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50A538-FDF3-2076-C995-F480D14A5250}"/>
              </a:ext>
            </a:extLst>
          </p:cNvPr>
          <p:cNvSpPr txBox="1"/>
          <p:nvPr/>
        </p:nvSpPr>
        <p:spPr>
          <a:xfrm>
            <a:off x="14063050" y="5588017"/>
            <a:ext cx="14419726" cy="909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Gathered data from 20 coast live oaks, </a:t>
            </a:r>
            <a:r>
              <a:rPr lang="en-US" sz="4500" i="1" dirty="0"/>
              <a:t>Quercus </a:t>
            </a:r>
            <a:r>
              <a:rPr lang="en-US" sz="4500" i="1" dirty="0" err="1"/>
              <a:t>agrifolia</a:t>
            </a:r>
            <a:r>
              <a:rPr lang="en-US" sz="4500" dirty="0"/>
              <a:t>, and blue oaks, </a:t>
            </a:r>
            <a:r>
              <a:rPr lang="en-US" sz="4500" i="1" dirty="0"/>
              <a:t>Quercus </a:t>
            </a:r>
            <a:r>
              <a:rPr lang="en-US" sz="4500" i="1" dirty="0" err="1"/>
              <a:t>douglasii</a:t>
            </a:r>
            <a:r>
              <a:rPr lang="en-US" sz="4500" dirty="0"/>
              <a:t>, total</a:t>
            </a:r>
            <a:endParaRPr lang="en-US" sz="4500" i="1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Selected 2 images/tree and measured 10 leaves/image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Recorded azimuth, pitch, and angle of photo taken given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Used </a:t>
            </a:r>
            <a:r>
              <a:rPr lang="en-US" sz="4500" dirty="0" err="1"/>
              <a:t>imageJ</a:t>
            </a:r>
            <a:r>
              <a:rPr lang="en-US" sz="4500" dirty="0"/>
              <a:t> to measure angle related to straight line (leaf angle) for each of the 10 leaf samples per image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Analyzed average leaf angle between species by creating boxplot figure on RStudio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Developed boxplots for average water potential of oaks based on driest month (July) for three years (2022, 23, 25)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Combined leaf angle and water potential data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500" dirty="0"/>
              <a:t>Compared average water potential (x) to average leaf angle (y) based on time of day (predawn vs. midday)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BD82AC-4252-3F6E-0A64-CBD7EA801B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7056" y="22333804"/>
            <a:ext cx="11619964" cy="7017306"/>
          </a:xfrm>
          <a:prstGeom prst="rect">
            <a:avLst/>
          </a:prstGeom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BB2FEA0-D34F-9ECC-BAE8-BC3AD4E2596B}"/>
              </a:ext>
            </a:extLst>
          </p:cNvPr>
          <p:cNvSpPr txBox="1"/>
          <p:nvPr/>
        </p:nvSpPr>
        <p:spPr>
          <a:xfrm>
            <a:off x="531584" y="29514864"/>
            <a:ext cx="128437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dirty="0"/>
              <a:t>Does lower mean water potential indicate a lower or higher mean leaf angle response, if at all?  Is there any variation between mean leaf angle of the two oak species in similar conditions?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5960E7-727F-C2F2-1D84-BC4B996983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67268" y="12889978"/>
            <a:ext cx="7772400" cy="80633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96D180-1770-B41E-2D44-6A6202F0AF16}"/>
              </a:ext>
            </a:extLst>
          </p:cNvPr>
          <p:cNvSpPr txBox="1"/>
          <p:nvPr/>
        </p:nvSpPr>
        <p:spPr>
          <a:xfrm>
            <a:off x="633715" y="21132273"/>
            <a:ext cx="13083598" cy="784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dirty="0"/>
              <a:t>What are different methods to measuring leaf angle?</a:t>
            </a:r>
          </a:p>
        </p:txBody>
      </p:sp>
    </p:spTree>
    <p:extLst>
      <p:ext uri="{BB962C8B-B14F-4D97-AF65-F5344CB8AC3E}">
        <p14:creationId xmlns:p14="http://schemas.microsoft.com/office/powerpoint/2010/main" val="971529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12572</TotalTime>
  <Words>638</Words>
  <Application>Microsoft Macintosh PowerPoint</Application>
  <PresentationFormat>Custom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Slattery, Flynn Brian - slafb001</dc:creator>
  <cp:lastModifiedBy>Steven Le</cp:lastModifiedBy>
  <cp:revision>137</cp:revision>
  <cp:lastPrinted>2022-06-03T18:16:44Z</cp:lastPrinted>
  <dcterms:created xsi:type="dcterms:W3CDTF">2019-04-24T06:12:18Z</dcterms:created>
  <dcterms:modified xsi:type="dcterms:W3CDTF">2026-04-27T18:12:14Z</dcterms:modified>
</cp:coreProperties>
</file>