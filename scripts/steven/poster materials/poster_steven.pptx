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5" r:id="rId1"/>
  </p:sldMasterIdLst>
  <p:notesMasterIdLst>
    <p:notesMasterId r:id="rId3"/>
  </p:notesMasterIdLst>
  <p:sldIdLst>
    <p:sldId id="259"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C2C017A-B38B-5BF3-A841-2B17889D35AF}" name="Indra Boving" initials="IB" userId="S::bovingi@ucsb.edu::d8ed0569-a6d4-4a82-9f4d-0799530c35b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B19B95"/>
    <a:srgbClr val="B8860B"/>
    <a:srgbClr val="E8846C"/>
    <a:srgbClr val="ECE7E2"/>
    <a:srgbClr val="9F7491"/>
    <a:srgbClr val="797ED6"/>
    <a:srgbClr val="B788A7"/>
    <a:srgbClr val="F6A162"/>
    <a:srgbClr val="AF6053"/>
    <a:srgbClr val="2A9C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5283"/>
    <p:restoredTop sz="96932"/>
  </p:normalViewPr>
  <p:slideViewPr>
    <p:cSldViewPr snapToGrid="0" snapToObjects="1">
      <p:cViewPr>
        <p:scale>
          <a:sx n="30" d="100"/>
          <a:sy n="30" d="100"/>
        </p:scale>
        <p:origin x="2792" y="40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D9DA6F-FBF0-DF48-AC61-FDAD57D9A0A8}" type="datetimeFigureOut">
              <a:rPr lang="en-US" smtClean="0"/>
              <a:t>4/17/26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6D2AA8-99A4-D142-8736-DEA3951AD1E6}" type="slidenum">
              <a:rPr lang="en-US" smtClean="0"/>
              <a:t>‹#›</a:t>
            </a:fld>
            <a:endParaRPr lang="en-US"/>
          </a:p>
        </p:txBody>
      </p:sp>
    </p:spTree>
    <p:extLst>
      <p:ext uri="{BB962C8B-B14F-4D97-AF65-F5344CB8AC3E}">
        <p14:creationId xmlns:p14="http://schemas.microsoft.com/office/powerpoint/2010/main" val="2715961051"/>
      </p:ext>
    </p:extLst>
  </p:cSld>
  <p:clrMap bg1="lt1" tx1="dk1" bg2="lt2" tx2="dk2" accent1="accent1" accent2="accent2" accent3="accent3" accent4="accent4" accent5="accent5" accent6="accent6" hlink="hlink" folHlink="folHlink"/>
  <p:notesStyle>
    <a:lvl1pPr marL="0" algn="l" defTabSz="3686624" rtl="0" eaLnBrk="1" latinLnBrk="0" hangingPunct="1">
      <a:defRPr sz="4838" kern="1200">
        <a:solidFill>
          <a:schemeClr val="tx1"/>
        </a:solidFill>
        <a:latin typeface="+mn-lt"/>
        <a:ea typeface="+mn-ea"/>
        <a:cs typeface="+mn-cs"/>
      </a:defRPr>
    </a:lvl1pPr>
    <a:lvl2pPr marL="1843312" algn="l" defTabSz="3686624" rtl="0" eaLnBrk="1" latinLnBrk="0" hangingPunct="1">
      <a:defRPr sz="4838" kern="1200">
        <a:solidFill>
          <a:schemeClr val="tx1"/>
        </a:solidFill>
        <a:latin typeface="+mn-lt"/>
        <a:ea typeface="+mn-ea"/>
        <a:cs typeface="+mn-cs"/>
      </a:defRPr>
    </a:lvl2pPr>
    <a:lvl3pPr marL="3686624" algn="l" defTabSz="3686624" rtl="0" eaLnBrk="1" latinLnBrk="0" hangingPunct="1">
      <a:defRPr sz="4838" kern="1200">
        <a:solidFill>
          <a:schemeClr val="tx1"/>
        </a:solidFill>
        <a:latin typeface="+mn-lt"/>
        <a:ea typeface="+mn-ea"/>
        <a:cs typeface="+mn-cs"/>
      </a:defRPr>
    </a:lvl3pPr>
    <a:lvl4pPr marL="5529936" algn="l" defTabSz="3686624" rtl="0" eaLnBrk="1" latinLnBrk="0" hangingPunct="1">
      <a:defRPr sz="4838" kern="1200">
        <a:solidFill>
          <a:schemeClr val="tx1"/>
        </a:solidFill>
        <a:latin typeface="+mn-lt"/>
        <a:ea typeface="+mn-ea"/>
        <a:cs typeface="+mn-cs"/>
      </a:defRPr>
    </a:lvl4pPr>
    <a:lvl5pPr marL="7373248" algn="l" defTabSz="3686624" rtl="0" eaLnBrk="1" latinLnBrk="0" hangingPunct="1">
      <a:defRPr sz="4838" kern="1200">
        <a:solidFill>
          <a:schemeClr val="tx1"/>
        </a:solidFill>
        <a:latin typeface="+mn-lt"/>
        <a:ea typeface="+mn-ea"/>
        <a:cs typeface="+mn-cs"/>
      </a:defRPr>
    </a:lvl5pPr>
    <a:lvl6pPr marL="9216561" algn="l" defTabSz="3686624" rtl="0" eaLnBrk="1" latinLnBrk="0" hangingPunct="1">
      <a:defRPr sz="4838" kern="1200">
        <a:solidFill>
          <a:schemeClr val="tx1"/>
        </a:solidFill>
        <a:latin typeface="+mn-lt"/>
        <a:ea typeface="+mn-ea"/>
        <a:cs typeface="+mn-cs"/>
      </a:defRPr>
    </a:lvl6pPr>
    <a:lvl7pPr marL="11059873" algn="l" defTabSz="3686624" rtl="0" eaLnBrk="1" latinLnBrk="0" hangingPunct="1">
      <a:defRPr sz="4838" kern="1200">
        <a:solidFill>
          <a:schemeClr val="tx1"/>
        </a:solidFill>
        <a:latin typeface="+mn-lt"/>
        <a:ea typeface="+mn-ea"/>
        <a:cs typeface="+mn-cs"/>
      </a:defRPr>
    </a:lvl7pPr>
    <a:lvl8pPr marL="12903184" algn="l" defTabSz="3686624" rtl="0" eaLnBrk="1" latinLnBrk="0" hangingPunct="1">
      <a:defRPr sz="4838" kern="1200">
        <a:solidFill>
          <a:schemeClr val="tx1"/>
        </a:solidFill>
        <a:latin typeface="+mn-lt"/>
        <a:ea typeface="+mn-ea"/>
        <a:cs typeface="+mn-cs"/>
      </a:defRPr>
    </a:lvl8pPr>
    <a:lvl9pPr marL="14746496" algn="l" defTabSz="3686624" rtl="0" eaLnBrk="1" latinLnBrk="0" hangingPunct="1">
      <a:defRPr sz="483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err="1"/>
              <a:t>ggsave</a:t>
            </a:r>
            <a:r>
              <a:rPr lang="en-US" dirty="0"/>
              <a:t>(plot = </a:t>
            </a:r>
            <a:r>
              <a:rPr lang="en-US" dirty="0" err="1"/>
              <a:t>alas_size_spp</a:t>
            </a:r>
            <a:r>
              <a:rPr lang="en-US" dirty="0"/>
              <a:t>, #plot name</a:t>
            </a:r>
          </a:p>
          <a:p>
            <a:r>
              <a:rPr lang="en-US" dirty="0"/>
              <a:t>       filename = here::here("figures", "</a:t>
            </a:r>
            <a:r>
              <a:rPr lang="en-US" dirty="0" err="1"/>
              <a:t>trait_data</a:t>
            </a:r>
            <a:r>
              <a:rPr lang="en-US" dirty="0"/>
              <a:t>"),#where to save to "</a:t>
            </a:r>
            <a:r>
              <a:rPr lang="en-US" dirty="0" err="1"/>
              <a:t>alas_size_spp.jpg</a:t>
            </a:r>
            <a:r>
              <a:rPr lang="en-US" dirty="0"/>
              <a:t>"), </a:t>
            </a:r>
          </a:p>
          <a:p>
            <a:r>
              <a:rPr lang="en-US" dirty="0"/>
              <a:t>                             width = 5, </a:t>
            </a:r>
          </a:p>
          <a:p>
            <a:r>
              <a:rPr lang="en-US" dirty="0"/>
              <a:t>                             height = 8,</a:t>
            </a:r>
          </a:p>
          <a:p>
            <a:r>
              <a:rPr lang="en-US" dirty="0"/>
              <a:t>       dpi = 600, </a:t>
            </a:r>
          </a:p>
          <a:p>
            <a:r>
              <a:rPr lang="en-US" dirty="0"/>
              <a:t>       units = "cm" #"in</a:t>
            </a:r>
          </a:p>
          <a:p>
            <a:r>
              <a:rPr lang="en-US" dirty="0"/>
              <a:t>       )</a:t>
            </a:r>
          </a:p>
        </p:txBody>
      </p:sp>
      <p:sp>
        <p:nvSpPr>
          <p:cNvPr id="4" name="Slide Number Placeholder 3"/>
          <p:cNvSpPr>
            <a:spLocks noGrp="1"/>
          </p:cNvSpPr>
          <p:nvPr>
            <p:ph type="sldNum" sz="quarter" idx="5"/>
          </p:nvPr>
        </p:nvSpPr>
        <p:spPr/>
        <p:txBody>
          <a:bodyPr/>
          <a:lstStyle/>
          <a:p>
            <a:fld id="{FE6D2AA8-99A4-D142-8736-DEA3951AD1E6}" type="slidenum">
              <a:rPr lang="en-US" smtClean="0"/>
              <a:t>1</a:t>
            </a:fld>
            <a:endParaRPr lang="en-US"/>
          </a:p>
        </p:txBody>
      </p:sp>
    </p:spTree>
    <p:extLst>
      <p:ext uri="{BB962C8B-B14F-4D97-AF65-F5344CB8AC3E}">
        <p14:creationId xmlns:p14="http://schemas.microsoft.com/office/powerpoint/2010/main" val="3243370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CB9E054-BB2E-5C48-9E53-8935A6C4B662}" type="datetimeFigureOut">
              <a:rPr lang="en-US" smtClean="0"/>
              <a:t>4/17/26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12452333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CB9E054-BB2E-5C48-9E53-8935A6C4B662}" type="datetimeFigureOut">
              <a:rPr lang="en-US" smtClean="0"/>
              <a:t>4/17/26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523764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solidFill>
              </a:defRPr>
            </a:lvl1pPr>
            <a:lvl2pPr marL="2194560" indent="0">
              <a:buNone/>
              <a:defRPr sz="9600">
                <a:solidFill>
                  <a:schemeClr val="tx1">
                    <a:tint val="75000"/>
                  </a:schemeClr>
                </a:solidFill>
              </a:defRPr>
            </a:lvl2pPr>
            <a:lvl3pPr marL="4389120" indent="0">
              <a:buNone/>
              <a:defRPr sz="8640">
                <a:solidFill>
                  <a:schemeClr val="tx1">
                    <a:tint val="75000"/>
                  </a:schemeClr>
                </a:solidFill>
              </a:defRPr>
            </a:lvl3pPr>
            <a:lvl4pPr marL="6583680" indent="0">
              <a:buNone/>
              <a:defRPr sz="7680">
                <a:solidFill>
                  <a:schemeClr val="tx1">
                    <a:tint val="75000"/>
                  </a:schemeClr>
                </a:solidFill>
              </a:defRPr>
            </a:lvl4pPr>
            <a:lvl5pPr marL="8778240" indent="0">
              <a:buNone/>
              <a:defRPr sz="7680">
                <a:solidFill>
                  <a:schemeClr val="tx1">
                    <a:tint val="75000"/>
                  </a:schemeClr>
                </a:solidFill>
              </a:defRPr>
            </a:lvl5pPr>
            <a:lvl6pPr marL="10972800" indent="0">
              <a:buNone/>
              <a:defRPr sz="7680">
                <a:solidFill>
                  <a:schemeClr val="tx1">
                    <a:tint val="75000"/>
                  </a:schemeClr>
                </a:solidFill>
              </a:defRPr>
            </a:lvl6pPr>
            <a:lvl7pPr marL="13167360" indent="0">
              <a:buNone/>
              <a:defRPr sz="7680">
                <a:solidFill>
                  <a:schemeClr val="tx1">
                    <a:tint val="75000"/>
                  </a:schemeClr>
                </a:solidFill>
              </a:defRPr>
            </a:lvl7pPr>
            <a:lvl8pPr marL="15361920" indent="0">
              <a:buNone/>
              <a:defRPr sz="7680">
                <a:solidFill>
                  <a:schemeClr val="tx1">
                    <a:tint val="75000"/>
                  </a:schemeClr>
                </a:solidFill>
              </a:defRPr>
            </a:lvl8pPr>
            <a:lvl9pPr marL="17556480" indent="0">
              <a:buNone/>
              <a:defRPr sz="76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CB9E054-BB2E-5C48-9E53-8935A6C4B662}" type="datetimeFigureOut">
              <a:rPr lang="en-US" smtClean="0"/>
              <a:t>4/17/26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31435525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CB9E054-BB2E-5C48-9E53-8935A6C4B662}" type="datetimeFigureOut">
              <a:rPr lang="en-US" smtClean="0"/>
              <a:t>4/17/26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2981930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CB9E054-BB2E-5C48-9E53-8935A6C4B662}" type="datetimeFigureOut">
              <a:rPr lang="en-US" smtClean="0"/>
              <a:t>4/17/26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11633136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CB9E054-BB2E-5C48-9E53-8935A6C4B662}" type="datetimeFigureOut">
              <a:rPr lang="en-US" smtClean="0"/>
              <a:t>4/17/26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4766283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B9E054-BB2E-5C48-9E53-8935A6C4B662}" type="datetimeFigureOut">
              <a:rPr lang="en-US" smtClean="0"/>
              <a:t>4/17/26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110546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0CB9E054-BB2E-5C48-9E53-8935A6C4B662}" type="datetimeFigureOut">
              <a:rPr lang="en-US" smtClean="0"/>
              <a:t>4/17/26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3230343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0CB9E054-BB2E-5C48-9E53-8935A6C4B662}" type="datetimeFigureOut">
              <a:rPr lang="en-US" smtClean="0"/>
              <a:t>4/17/26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39401628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CB9E054-BB2E-5C48-9E53-8935A6C4B662}" type="datetimeFigureOut">
              <a:rPr lang="en-US" smtClean="0"/>
              <a:t>4/17/26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1913141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CB9E054-BB2E-5C48-9E53-8935A6C4B662}" type="datetimeFigureOut">
              <a:rPr lang="en-US" smtClean="0"/>
              <a:t>4/17/26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2FBEB3-8EC2-924A-BF33-856F5C4E22E9}" type="slidenum">
              <a:rPr lang="en-US" smtClean="0"/>
              <a:t>‹#›</a:t>
            </a:fld>
            <a:endParaRPr lang="en-US"/>
          </a:p>
        </p:txBody>
      </p:sp>
    </p:spTree>
    <p:extLst>
      <p:ext uri="{BB962C8B-B14F-4D97-AF65-F5344CB8AC3E}">
        <p14:creationId xmlns:p14="http://schemas.microsoft.com/office/powerpoint/2010/main" val="20763107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99D3604F-61E0-8747-8819-8D0704C9B005}"/>
              </a:ext>
            </a:extLst>
          </p:cNvPr>
          <p:cNvSpPr/>
          <p:nvPr userDrawn="1"/>
        </p:nvSpPr>
        <p:spPr>
          <a:xfrm>
            <a:off x="936326" y="20611047"/>
            <a:ext cx="2837981" cy="30093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940"/>
          </a:p>
        </p:txBody>
      </p:sp>
      <p:sp>
        <p:nvSpPr>
          <p:cNvPr id="3" name="TextBox 2">
            <a:extLst>
              <a:ext uri="{FF2B5EF4-FFF2-40B4-BE49-F238E27FC236}">
                <a16:creationId xmlns:a16="http://schemas.microsoft.com/office/drawing/2014/main" id="{9EDD03C6-9B9F-7146-B31A-43709873DC23}"/>
              </a:ext>
            </a:extLst>
          </p:cNvPr>
          <p:cNvSpPr txBox="1"/>
          <p:nvPr userDrawn="1"/>
        </p:nvSpPr>
        <p:spPr>
          <a:xfrm>
            <a:off x="1102761" y="21132977"/>
            <a:ext cx="2538255" cy="723531"/>
          </a:xfrm>
          <a:prstGeom prst="rect">
            <a:avLst/>
          </a:prstGeom>
          <a:noFill/>
        </p:spPr>
        <p:txBody>
          <a:bodyPr wrap="square" rtlCol="0">
            <a:spAutoFit/>
          </a:bodyPr>
          <a:lstStyle/>
          <a:p>
            <a:pPr algn="ctr">
              <a:spcAft>
                <a:spcPts val="1741"/>
              </a:spcAft>
            </a:pPr>
            <a:r>
              <a:rPr lang="en-US" sz="2051" b="1" dirty="0">
                <a:solidFill>
                  <a:srgbClr val="333333"/>
                </a:solidFill>
                <a:latin typeface="+mj-lt"/>
              </a:rPr>
              <a:t>Template by </a:t>
            </a:r>
            <a:br>
              <a:rPr lang="en-US" sz="2051" b="1" dirty="0">
                <a:solidFill>
                  <a:srgbClr val="333333"/>
                </a:solidFill>
                <a:latin typeface="+mj-lt"/>
              </a:rPr>
            </a:br>
            <a:r>
              <a:rPr lang="en-US" sz="2051" b="1" dirty="0">
                <a:solidFill>
                  <a:srgbClr val="333333"/>
                </a:solidFill>
                <a:latin typeface="+mj-lt"/>
              </a:rPr>
              <a:t>Animate Your Science</a:t>
            </a:r>
            <a:endParaRPr lang="en-US" sz="1230" dirty="0">
              <a:solidFill>
                <a:srgbClr val="333333"/>
              </a:solidFill>
              <a:latin typeface="+mj-lt"/>
            </a:endParaRPr>
          </a:p>
        </p:txBody>
      </p:sp>
      <p:pic>
        <p:nvPicPr>
          <p:cNvPr id="4" name="Picture 3">
            <a:extLst>
              <a:ext uri="{FF2B5EF4-FFF2-40B4-BE49-F238E27FC236}">
                <a16:creationId xmlns:a16="http://schemas.microsoft.com/office/drawing/2014/main" id="{F33C1778-E44E-5443-91BC-91AB5AA66C7D}"/>
              </a:ext>
            </a:extLst>
          </p:cNvPr>
          <p:cNvPicPr>
            <a:picLocks noChangeAspect="1"/>
          </p:cNvPicPr>
          <p:nvPr userDrawn="1"/>
        </p:nvPicPr>
        <p:blipFill>
          <a:blip r:embed="rId2"/>
          <a:stretch>
            <a:fillRect/>
          </a:stretch>
        </p:blipFill>
        <p:spPr>
          <a:xfrm>
            <a:off x="1199142" y="21945574"/>
            <a:ext cx="2298450" cy="971372"/>
          </a:xfrm>
          <a:prstGeom prst="rect">
            <a:avLst/>
          </a:prstGeom>
        </p:spPr>
      </p:pic>
    </p:spTree>
    <p:extLst>
      <p:ext uri="{BB962C8B-B14F-4D97-AF65-F5344CB8AC3E}">
        <p14:creationId xmlns:p14="http://schemas.microsoft.com/office/powerpoint/2010/main" val="2259872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75000"/>
                  </a:schemeClr>
                </a:solidFill>
              </a:defRPr>
            </a:lvl1pPr>
          </a:lstStyle>
          <a:p>
            <a:fld id="{0CB9E054-BB2E-5C48-9E53-8935A6C4B662}" type="datetimeFigureOut">
              <a:rPr lang="en-US" smtClean="0"/>
              <a:t>4/17/26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75000"/>
                  </a:schemeClr>
                </a:solidFill>
              </a:defRPr>
            </a:lvl1pPr>
          </a:lstStyle>
          <a:p>
            <a:fld id="{942FBEB3-8EC2-924A-BF33-856F5C4E22E9}" type="slidenum">
              <a:rPr lang="en-US" smtClean="0"/>
              <a:t>‹#›</a:t>
            </a:fld>
            <a:endParaRPr lang="en-US"/>
          </a:p>
        </p:txBody>
      </p:sp>
    </p:spTree>
    <p:extLst>
      <p:ext uri="{BB962C8B-B14F-4D97-AF65-F5344CB8AC3E}">
        <p14:creationId xmlns:p14="http://schemas.microsoft.com/office/powerpoint/2010/main" val="754581008"/>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 id="2147483697" r:id="rId12"/>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19B95"/>
        </a:solidFill>
        <a:effectLst/>
      </p:bgPr>
    </p:bg>
    <p:spTree>
      <p:nvGrpSpPr>
        <p:cNvPr id="1" name=""/>
        <p:cNvGrpSpPr/>
        <p:nvPr/>
      </p:nvGrpSpPr>
      <p:grpSpPr>
        <a:xfrm>
          <a:off x="0" y="0"/>
          <a:ext cx="0" cy="0"/>
          <a:chOff x="0" y="0"/>
          <a:chExt cx="0" cy="0"/>
        </a:xfrm>
      </p:grpSpPr>
      <p:sp>
        <p:nvSpPr>
          <p:cNvPr id="228" name="Rectangle 227">
            <a:extLst>
              <a:ext uri="{FF2B5EF4-FFF2-40B4-BE49-F238E27FC236}">
                <a16:creationId xmlns:a16="http://schemas.microsoft.com/office/drawing/2014/main" id="{0C97C263-44F4-F547-A1FF-DB1549A85221}"/>
              </a:ext>
            </a:extLst>
          </p:cNvPr>
          <p:cNvSpPr/>
          <p:nvPr/>
        </p:nvSpPr>
        <p:spPr>
          <a:xfrm>
            <a:off x="28963287" y="4486961"/>
            <a:ext cx="14541399" cy="19738354"/>
          </a:xfrm>
          <a:prstGeom prst="rect">
            <a:avLst/>
          </a:prstGeom>
          <a:solidFill>
            <a:srgbClr val="ECE7E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319" tIns="33160" rIns="66319" bIns="33160" numCol="1" spcCol="0" rtlCol="0" fromWordArt="0" anchor="t" anchorCtr="0" forceAA="0" compatLnSpc="1">
            <a:prstTxWarp prst="textNoShape">
              <a:avLst/>
            </a:prstTxWarp>
            <a:noAutofit/>
          </a:bodyPr>
          <a:lstStyle/>
          <a:p>
            <a:pPr marL="207235" indent="-207235">
              <a:spcAft>
                <a:spcPts val="1741"/>
              </a:spcAft>
              <a:buFont typeface="Arial" panose="020B0604020202020204" pitchFamily="34" charset="0"/>
              <a:buChar char="•"/>
            </a:pPr>
            <a:endParaRPr lang="en-US" sz="4922" dirty="0">
              <a:solidFill>
                <a:srgbClr val="333333"/>
              </a:solidFill>
              <a:latin typeface="+mj-lt"/>
            </a:endParaRPr>
          </a:p>
          <a:p>
            <a:pPr>
              <a:spcAft>
                <a:spcPts val="1741"/>
              </a:spcAft>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p:txBody>
      </p:sp>
      <p:sp>
        <p:nvSpPr>
          <p:cNvPr id="74" name="Rectangle 73">
            <a:extLst>
              <a:ext uri="{FF2B5EF4-FFF2-40B4-BE49-F238E27FC236}">
                <a16:creationId xmlns:a16="http://schemas.microsoft.com/office/drawing/2014/main" id="{035445B9-8C33-EF99-4943-E6AE131DFEC5}"/>
              </a:ext>
            </a:extLst>
          </p:cNvPr>
          <p:cNvSpPr/>
          <p:nvPr/>
        </p:nvSpPr>
        <p:spPr>
          <a:xfrm>
            <a:off x="13672800" y="4445790"/>
            <a:ext cx="14794078" cy="27874630"/>
          </a:xfrm>
          <a:prstGeom prst="rect">
            <a:avLst/>
          </a:prstGeom>
          <a:solidFill>
            <a:srgbClr val="ECE7E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319" tIns="33160" rIns="66319" bIns="33160" numCol="1" spcCol="0" rtlCol="0" fromWordArt="0" anchor="t" anchorCtr="0" forceAA="0" compatLnSpc="1">
            <a:prstTxWarp prst="textNoShape">
              <a:avLst/>
            </a:prstTxWarp>
            <a:noAutofit/>
          </a:bodyPr>
          <a:lstStyle/>
          <a:p>
            <a:pPr>
              <a:spcAft>
                <a:spcPts val="1741"/>
              </a:spcAft>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p:txBody>
      </p:sp>
      <p:sp>
        <p:nvSpPr>
          <p:cNvPr id="73" name="Rectangle 72">
            <a:extLst>
              <a:ext uri="{FF2B5EF4-FFF2-40B4-BE49-F238E27FC236}">
                <a16:creationId xmlns:a16="http://schemas.microsoft.com/office/drawing/2014/main" id="{901801A5-85B7-8C2B-9BE8-F83C6BC2D4CB}"/>
              </a:ext>
            </a:extLst>
          </p:cNvPr>
          <p:cNvSpPr/>
          <p:nvPr/>
        </p:nvSpPr>
        <p:spPr>
          <a:xfrm>
            <a:off x="29218466" y="24460451"/>
            <a:ext cx="14271208" cy="5419103"/>
          </a:xfrm>
          <a:prstGeom prst="rect">
            <a:avLst/>
          </a:prstGeom>
          <a:solidFill>
            <a:srgbClr val="28465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319" tIns="33160" rIns="66319" bIns="33160" numCol="1" spcCol="0" rtlCol="0" fromWordArt="0" anchor="t" anchorCtr="0" forceAA="0" compatLnSpc="1">
            <a:prstTxWarp prst="textNoShape">
              <a:avLst/>
            </a:prstTxWarp>
            <a:noAutofit/>
          </a:bodyPr>
          <a:lstStyle/>
          <a:p>
            <a:pPr>
              <a:spcAft>
                <a:spcPts val="1741"/>
              </a:spcAft>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p:txBody>
      </p:sp>
      <p:sp>
        <p:nvSpPr>
          <p:cNvPr id="230" name="Rectangle 229">
            <a:extLst>
              <a:ext uri="{FF2B5EF4-FFF2-40B4-BE49-F238E27FC236}">
                <a16:creationId xmlns:a16="http://schemas.microsoft.com/office/drawing/2014/main" id="{6F9E1D97-7075-1541-ADF9-B82B774D895B}"/>
              </a:ext>
            </a:extLst>
          </p:cNvPr>
          <p:cNvSpPr/>
          <p:nvPr/>
        </p:nvSpPr>
        <p:spPr>
          <a:xfrm>
            <a:off x="654618" y="4613192"/>
            <a:ext cx="13323428" cy="7060889"/>
          </a:xfrm>
          <a:prstGeom prst="rect">
            <a:avLst/>
          </a:prstGeom>
          <a:solidFill>
            <a:srgbClr val="ECE7E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319" tIns="33160" rIns="66319" bIns="33160" numCol="1" spcCol="0" rtlCol="0" fromWordArt="0" anchor="t" anchorCtr="0" forceAA="0" compatLnSpc="1">
            <a:prstTxWarp prst="textNoShape">
              <a:avLst/>
            </a:prstTxWarp>
            <a:noAutofit/>
          </a:bodyPr>
          <a:lstStyle/>
          <a:p>
            <a:pPr>
              <a:spcAft>
                <a:spcPts val="1741"/>
              </a:spcAft>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a:p>
            <a:pPr marL="207235" indent="-207235">
              <a:spcAft>
                <a:spcPts val="1741"/>
              </a:spcAft>
              <a:buFont typeface="Arial" panose="020B0604020202020204" pitchFamily="34" charset="0"/>
              <a:buChar char="•"/>
            </a:pPr>
            <a:endParaRPr lang="en-US" sz="4922" dirty="0">
              <a:solidFill>
                <a:srgbClr val="333333"/>
              </a:solidFill>
              <a:latin typeface="+mj-lt"/>
            </a:endParaRPr>
          </a:p>
        </p:txBody>
      </p:sp>
      <p:sp>
        <p:nvSpPr>
          <p:cNvPr id="229" name="Rectangle 228">
            <a:extLst>
              <a:ext uri="{FF2B5EF4-FFF2-40B4-BE49-F238E27FC236}">
                <a16:creationId xmlns:a16="http://schemas.microsoft.com/office/drawing/2014/main" id="{0A097AEA-9B08-8F4E-B7BD-3A5DAA271FD0}"/>
              </a:ext>
            </a:extLst>
          </p:cNvPr>
          <p:cNvSpPr/>
          <p:nvPr/>
        </p:nvSpPr>
        <p:spPr>
          <a:xfrm>
            <a:off x="-15905848" y="8483622"/>
            <a:ext cx="13323428" cy="20793082"/>
          </a:xfrm>
          <a:prstGeom prst="rect">
            <a:avLst/>
          </a:prstGeom>
          <a:solidFill>
            <a:srgbClr val="ECE7E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319" tIns="33160" rIns="66319" bIns="33160" numCol="1" spcCol="0" rtlCol="0" fromWordArt="0" anchor="t" anchorCtr="0" forceAA="0" compatLnSpc="1">
            <a:prstTxWarp prst="textNoShape">
              <a:avLst/>
            </a:prstTxWarp>
            <a:noAutofit/>
          </a:bodyPr>
          <a:lstStyle/>
          <a:p>
            <a:pPr>
              <a:spcAft>
                <a:spcPts val="1741"/>
              </a:spcAft>
            </a:pPr>
            <a:endParaRPr lang="en-US" sz="4922" dirty="0">
              <a:solidFill>
                <a:srgbClr val="002060"/>
              </a:solidFill>
              <a:latin typeface="+mj-lt"/>
            </a:endParaRPr>
          </a:p>
          <a:p>
            <a:pPr marL="207235" indent="-207235">
              <a:spcAft>
                <a:spcPts val="1741"/>
              </a:spcAft>
              <a:buFont typeface="Arial" panose="020B0604020202020204" pitchFamily="34" charset="0"/>
              <a:buChar char="•"/>
            </a:pPr>
            <a:endParaRPr lang="en-US" sz="4922" dirty="0">
              <a:solidFill>
                <a:srgbClr val="002060"/>
              </a:solidFill>
              <a:latin typeface="+mj-lt"/>
            </a:endParaRPr>
          </a:p>
          <a:p>
            <a:pPr marL="207235" indent="-207235">
              <a:spcAft>
                <a:spcPts val="1741"/>
              </a:spcAft>
              <a:buFont typeface="Arial" panose="020B0604020202020204" pitchFamily="34" charset="0"/>
              <a:buChar char="•"/>
            </a:pPr>
            <a:endParaRPr lang="en-US" sz="4922" dirty="0">
              <a:solidFill>
                <a:srgbClr val="002060"/>
              </a:solidFill>
              <a:latin typeface="+mj-lt"/>
            </a:endParaRPr>
          </a:p>
          <a:p>
            <a:pPr marL="207235" indent="-207235">
              <a:spcAft>
                <a:spcPts val="1741"/>
              </a:spcAft>
              <a:buFont typeface="Arial" panose="020B0604020202020204" pitchFamily="34" charset="0"/>
              <a:buChar char="•"/>
            </a:pPr>
            <a:endParaRPr lang="en-US" sz="4922" dirty="0">
              <a:solidFill>
                <a:srgbClr val="002060"/>
              </a:solidFill>
              <a:latin typeface="+mj-lt"/>
            </a:endParaRPr>
          </a:p>
          <a:p>
            <a:pPr>
              <a:spcAft>
                <a:spcPts val="1741"/>
              </a:spcAft>
            </a:pPr>
            <a:endParaRPr lang="en-US" sz="4922" dirty="0">
              <a:solidFill>
                <a:srgbClr val="002060"/>
              </a:solidFill>
              <a:latin typeface="+mj-lt"/>
            </a:endParaRPr>
          </a:p>
        </p:txBody>
      </p:sp>
      <p:sp>
        <p:nvSpPr>
          <p:cNvPr id="13" name="Rectangle 12">
            <a:extLst>
              <a:ext uri="{FF2B5EF4-FFF2-40B4-BE49-F238E27FC236}">
                <a16:creationId xmlns:a16="http://schemas.microsoft.com/office/drawing/2014/main" id="{228F8812-5BD0-EC44-A3B0-BD50B1963FB7}"/>
              </a:ext>
            </a:extLst>
          </p:cNvPr>
          <p:cNvSpPr/>
          <p:nvPr/>
        </p:nvSpPr>
        <p:spPr>
          <a:xfrm>
            <a:off x="-1" y="265065"/>
            <a:ext cx="43891201" cy="3957667"/>
          </a:xfrm>
          <a:prstGeom prst="rect">
            <a:avLst/>
          </a:prstGeom>
          <a:solidFill>
            <a:srgbClr val="2A9C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51" dirty="0"/>
          </a:p>
        </p:txBody>
      </p:sp>
      <p:sp>
        <p:nvSpPr>
          <p:cNvPr id="6" name="TextBox 5">
            <a:extLst>
              <a:ext uri="{FF2B5EF4-FFF2-40B4-BE49-F238E27FC236}">
                <a16:creationId xmlns:a16="http://schemas.microsoft.com/office/drawing/2014/main" id="{840D3A93-FFBA-7646-9FAB-4A3C02EF07E9}"/>
              </a:ext>
            </a:extLst>
          </p:cNvPr>
          <p:cNvSpPr txBox="1"/>
          <p:nvPr/>
        </p:nvSpPr>
        <p:spPr>
          <a:xfrm>
            <a:off x="269650" y="417715"/>
            <a:ext cx="39235130" cy="3046988"/>
          </a:xfrm>
          <a:prstGeom prst="rect">
            <a:avLst/>
          </a:prstGeom>
          <a:noFill/>
          <a:ln>
            <a:noFill/>
          </a:ln>
        </p:spPr>
        <p:txBody>
          <a:bodyPr wrap="square" rtlCol="0">
            <a:spAutoFit/>
          </a:bodyPr>
          <a:lstStyle/>
          <a:p>
            <a:r>
              <a:rPr lang="en-US" sz="9600" b="1" dirty="0">
                <a:solidFill>
                  <a:srgbClr val="ECE7E2"/>
                </a:solidFill>
                <a:latin typeface="+mj-lt"/>
                <a:ea typeface="Verdana" panose="020B0604030504040204" pitchFamily="34" charset="0"/>
                <a:cs typeface="Calibri" panose="020F0502020204030204" pitchFamily="34" charset="0"/>
              </a:rPr>
              <a:t>Size-specific drought vulnerability and growth strategies across three conifer species</a:t>
            </a:r>
          </a:p>
        </p:txBody>
      </p:sp>
      <p:sp>
        <p:nvSpPr>
          <p:cNvPr id="80" name="TextBox 79">
            <a:extLst>
              <a:ext uri="{FF2B5EF4-FFF2-40B4-BE49-F238E27FC236}">
                <a16:creationId xmlns:a16="http://schemas.microsoft.com/office/drawing/2014/main" id="{0B4F15D1-6EF3-4049-93B4-3035B9F53A19}"/>
              </a:ext>
            </a:extLst>
          </p:cNvPr>
          <p:cNvSpPr txBox="1"/>
          <p:nvPr/>
        </p:nvSpPr>
        <p:spPr>
          <a:xfrm>
            <a:off x="960173" y="5603347"/>
            <a:ext cx="11610060" cy="5760551"/>
          </a:xfrm>
          <a:prstGeom prst="rect">
            <a:avLst/>
          </a:prstGeom>
          <a:noFill/>
        </p:spPr>
        <p:txBody>
          <a:bodyPr wrap="square" rtlCol="0">
            <a:spAutoFit/>
          </a:bodyPr>
          <a:lstStyle/>
          <a:p>
            <a:pPr marL="703219" indent="-703219">
              <a:spcAft>
                <a:spcPts val="1741"/>
              </a:spcAft>
              <a:buFont typeface="Arial" panose="020B0604020202020204" pitchFamily="34" charset="0"/>
              <a:buChar char="•"/>
            </a:pPr>
            <a:r>
              <a:rPr lang="en-US" sz="3400" dirty="0">
                <a:solidFill>
                  <a:schemeClr val="bg2">
                    <a:lumMod val="25000"/>
                  </a:schemeClr>
                </a:solidFill>
                <a:latin typeface="+mj-lt"/>
              </a:rPr>
              <a:t>Functional </a:t>
            </a:r>
            <a:r>
              <a:rPr lang="en-US" sz="3400" b="0" i="0" u="none" strike="noStrike" dirty="0">
                <a:solidFill>
                  <a:schemeClr val="bg2">
                    <a:lumMod val="25000"/>
                  </a:schemeClr>
                </a:solidFill>
                <a:effectLst/>
                <a:latin typeface="+mj-lt"/>
              </a:rPr>
              <a:t>traits offer insight into plant performance, species distributions, physiological processes, and demographic rates.</a:t>
            </a:r>
          </a:p>
          <a:p>
            <a:pPr marL="703219" indent="-703219">
              <a:spcAft>
                <a:spcPts val="1741"/>
              </a:spcAft>
              <a:buFont typeface="Arial" panose="020B0604020202020204" pitchFamily="34" charset="0"/>
              <a:buChar char="•"/>
            </a:pPr>
            <a:r>
              <a:rPr lang="en-US" sz="3400" dirty="0">
                <a:solidFill>
                  <a:schemeClr val="bg2">
                    <a:lumMod val="25000"/>
                  </a:schemeClr>
                </a:solidFill>
                <a:latin typeface="+mj-lt"/>
              </a:rPr>
              <a:t>How plant traits respond to environmental limitations to maintain growth/avoid stress are not well understood, especially across trees of different sizes that experience unique microclimates due to their canopy position and likely differ in water access due to variation in rooting depth. </a:t>
            </a:r>
          </a:p>
          <a:p>
            <a:pPr marL="703219" indent="-703219">
              <a:spcAft>
                <a:spcPts val="1741"/>
              </a:spcAft>
              <a:buFont typeface="Arial" panose="020B0604020202020204" pitchFamily="34" charset="0"/>
              <a:buChar char="•"/>
            </a:pPr>
            <a:r>
              <a:rPr lang="en-US" sz="3400" dirty="0">
                <a:solidFill>
                  <a:schemeClr val="bg2">
                    <a:lumMod val="25000"/>
                  </a:schemeClr>
                </a:solidFill>
                <a:latin typeface="+mj-lt"/>
              </a:rPr>
              <a:t>The </a:t>
            </a:r>
            <a:r>
              <a:rPr lang="en-US" sz="3400" b="0" i="0" u="none" strike="noStrike" dirty="0">
                <a:solidFill>
                  <a:schemeClr val="bg2">
                    <a:lumMod val="25000"/>
                  </a:schemeClr>
                </a:solidFill>
                <a:effectLst/>
                <a:latin typeface="+mj-lt"/>
              </a:rPr>
              <a:t>uncertainty about environmental variation and physiological response limits the utility of functional traits for use in management and modeling.</a:t>
            </a:r>
          </a:p>
        </p:txBody>
      </p:sp>
      <p:sp>
        <p:nvSpPr>
          <p:cNvPr id="55" name="Rectangle 54">
            <a:extLst>
              <a:ext uri="{FF2B5EF4-FFF2-40B4-BE49-F238E27FC236}">
                <a16:creationId xmlns:a16="http://schemas.microsoft.com/office/drawing/2014/main" id="{2B8093F3-DA3B-3B43-92BA-CBA138DAFE9E}"/>
              </a:ext>
            </a:extLst>
          </p:cNvPr>
          <p:cNvSpPr/>
          <p:nvPr/>
        </p:nvSpPr>
        <p:spPr>
          <a:xfrm>
            <a:off x="28963287" y="30151495"/>
            <a:ext cx="14541399" cy="2501841"/>
          </a:xfrm>
          <a:prstGeom prst="rect">
            <a:avLst/>
          </a:prstGeom>
          <a:solidFill>
            <a:srgbClr val="ECE7E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6319" tIns="33160" rIns="66319" bIns="33160" numCol="1" spcCol="0" rtlCol="0" fromWordArt="0" anchor="t" anchorCtr="0" forceAA="0" compatLnSpc="1">
            <a:prstTxWarp prst="textNoShape">
              <a:avLst/>
            </a:prstTxWarp>
            <a:noAutofit/>
          </a:bodyPr>
          <a:lstStyle/>
          <a:p>
            <a:pPr marL="0" marR="0">
              <a:spcBef>
                <a:spcPts val="0"/>
              </a:spcBef>
              <a:spcAft>
                <a:spcPts val="0"/>
              </a:spcAft>
            </a:pPr>
            <a:r>
              <a:rPr lang="da-DK" sz="2600" dirty="0">
                <a:solidFill>
                  <a:schemeClr val="bg2">
                    <a:lumMod val="25000"/>
                  </a:schemeClr>
                </a:solidFill>
                <a:effectLst/>
                <a:latin typeface="+mj-lt"/>
                <a:ea typeface="DengXian" panose="02010600030101010101" pitchFamily="2" charset="-122"/>
                <a:cs typeface="Calibri" panose="020F0502020204030204" pitchFamily="34" charset="0"/>
              </a:rPr>
              <a:t>	</a:t>
            </a:r>
            <a:r>
              <a:rPr lang="da-DK" sz="2600" dirty="0" err="1">
                <a:solidFill>
                  <a:schemeClr val="bg2">
                    <a:lumMod val="25000"/>
                  </a:schemeClr>
                </a:solidFill>
                <a:effectLst/>
                <a:latin typeface="+mj-lt"/>
                <a:ea typeface="DengXian" panose="02010600030101010101" pitchFamily="2" charset="-122"/>
                <a:cs typeface="Calibri" panose="020F0502020204030204" pitchFamily="34" charset="0"/>
              </a:rPr>
              <a:t>Anderegg</a:t>
            </a:r>
            <a:r>
              <a:rPr lang="da-DK" sz="2600" dirty="0">
                <a:solidFill>
                  <a:schemeClr val="bg2">
                    <a:lumMod val="25000"/>
                  </a:schemeClr>
                </a:solidFill>
                <a:effectLst/>
                <a:latin typeface="+mj-lt"/>
                <a:ea typeface="DengXian" panose="02010600030101010101" pitchFamily="2" charset="-122"/>
                <a:cs typeface="Calibri" panose="020F0502020204030204" pitchFamily="34" charset="0"/>
              </a:rPr>
              <a:t>, L. D. L. (2023). </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Why can’t we predict traits from the environment? </a:t>
            </a:r>
            <a:r>
              <a:rPr lang="en-US" sz="2600" i="1" dirty="0">
                <a:solidFill>
                  <a:schemeClr val="bg2">
                    <a:lumMod val="25000"/>
                  </a:schemeClr>
                </a:solidFill>
                <a:effectLst/>
                <a:latin typeface="+mj-lt"/>
                <a:ea typeface="DengXian" panose="02010600030101010101" pitchFamily="2" charset="-122"/>
                <a:cs typeface="Calibri" panose="020F0502020204030204" pitchFamily="34" charset="0"/>
              </a:rPr>
              <a:t>New Phytologist</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 </a:t>
            </a:r>
            <a:r>
              <a:rPr lang="en-US" sz="2600" i="1" dirty="0">
                <a:solidFill>
                  <a:schemeClr val="bg2">
                    <a:lumMod val="25000"/>
                  </a:schemeClr>
                </a:solidFill>
                <a:effectLst/>
                <a:latin typeface="+mj-lt"/>
                <a:ea typeface="DengXian" panose="02010600030101010101" pitchFamily="2" charset="-122"/>
                <a:cs typeface="Calibri" panose="020F0502020204030204" pitchFamily="34" charset="0"/>
              </a:rPr>
              <a:t>237</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(6), 1998–2004. </a:t>
            </a:r>
          </a:p>
          <a:p>
            <a:pPr marL="0" marR="0">
              <a:spcBef>
                <a:spcPts val="0"/>
              </a:spcBef>
              <a:spcAft>
                <a:spcPts val="0"/>
              </a:spcAft>
            </a:pPr>
            <a:r>
              <a:rPr lang="de-DE" sz="2600" dirty="0">
                <a:solidFill>
                  <a:schemeClr val="bg2">
                    <a:lumMod val="25000"/>
                  </a:schemeClr>
                </a:solidFill>
                <a:effectLst/>
                <a:latin typeface="+mj-lt"/>
                <a:ea typeface="DengXian" panose="02010600030101010101" pitchFamily="2" charset="-122"/>
                <a:cs typeface="Calibri" panose="020F0502020204030204" pitchFamily="34" charset="0"/>
              </a:rPr>
              <a:t>	Das, A. J., Stephenson, N. L., &amp; Davis, K. P. (2016). </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Why do trees die? Characterizing the drivers of background tree mortality. </a:t>
            </a:r>
            <a:r>
              <a:rPr lang="en-US" sz="2600" i="1" dirty="0">
                <a:solidFill>
                  <a:schemeClr val="bg2">
                    <a:lumMod val="25000"/>
                  </a:schemeClr>
                </a:solidFill>
                <a:effectLst/>
                <a:latin typeface="+mj-lt"/>
                <a:ea typeface="DengXian" panose="02010600030101010101" pitchFamily="2" charset="-122"/>
                <a:cs typeface="Calibri" panose="020F0502020204030204" pitchFamily="34" charset="0"/>
              </a:rPr>
              <a:t>Ecology</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 </a:t>
            </a:r>
            <a:r>
              <a:rPr lang="en-US" sz="2600" i="1" dirty="0">
                <a:solidFill>
                  <a:schemeClr val="bg2">
                    <a:lumMod val="25000"/>
                  </a:schemeClr>
                </a:solidFill>
                <a:effectLst/>
                <a:latin typeface="+mj-lt"/>
                <a:ea typeface="DengXian" panose="02010600030101010101" pitchFamily="2" charset="-122"/>
                <a:cs typeface="Calibri" panose="020F0502020204030204" pitchFamily="34" charset="0"/>
              </a:rPr>
              <a:t>97</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(10), 2616–2627. 	</a:t>
            </a:r>
          </a:p>
          <a:p>
            <a:pPr marL="0" marR="0">
              <a:spcBef>
                <a:spcPts val="0"/>
              </a:spcBef>
              <a:spcAft>
                <a:spcPts val="0"/>
              </a:spcAft>
            </a:pPr>
            <a:r>
              <a:rPr lang="en-US" sz="2600" dirty="0">
                <a:solidFill>
                  <a:schemeClr val="bg2">
                    <a:lumMod val="25000"/>
                  </a:schemeClr>
                </a:solidFill>
                <a:latin typeface="+mj-lt"/>
                <a:ea typeface="DengXian" panose="02010600030101010101" pitchFamily="2" charset="-122"/>
                <a:cs typeface="Calibri" panose="020F0502020204030204" pitchFamily="34" charset="0"/>
              </a:rPr>
              <a:t>	</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Trugman, A. T., Anderegg, L. D. L., Anderegg, W. R. L., Das, A. J., &amp; Stephenson, N. L. (2021). Why is Tree Drought Mortality so Hard to Predict? </a:t>
            </a:r>
            <a:r>
              <a:rPr lang="en-US" sz="2600" i="1" dirty="0">
                <a:solidFill>
                  <a:schemeClr val="bg2">
                    <a:lumMod val="25000"/>
                  </a:schemeClr>
                </a:solidFill>
                <a:effectLst/>
                <a:latin typeface="+mj-lt"/>
                <a:ea typeface="DengXian" panose="02010600030101010101" pitchFamily="2" charset="-122"/>
                <a:cs typeface="Calibri" panose="020F0502020204030204" pitchFamily="34" charset="0"/>
              </a:rPr>
              <a:t>Trends in Ecology &amp; Evolution</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 </a:t>
            </a:r>
            <a:r>
              <a:rPr lang="en-US" sz="2600" i="1" dirty="0">
                <a:solidFill>
                  <a:schemeClr val="bg2">
                    <a:lumMod val="25000"/>
                  </a:schemeClr>
                </a:solidFill>
                <a:effectLst/>
                <a:latin typeface="+mj-lt"/>
                <a:ea typeface="DengXian" panose="02010600030101010101" pitchFamily="2" charset="-122"/>
                <a:cs typeface="Calibri" panose="020F0502020204030204" pitchFamily="34" charset="0"/>
              </a:rPr>
              <a:t>36</a:t>
            </a:r>
            <a:r>
              <a:rPr lang="en-US" sz="2600" dirty="0">
                <a:solidFill>
                  <a:schemeClr val="bg2">
                    <a:lumMod val="25000"/>
                  </a:schemeClr>
                </a:solidFill>
                <a:effectLst/>
                <a:latin typeface="+mj-lt"/>
                <a:ea typeface="DengXian" panose="02010600030101010101" pitchFamily="2" charset="-122"/>
                <a:cs typeface="Calibri" panose="020F0502020204030204" pitchFamily="34" charset="0"/>
              </a:rPr>
              <a:t>(6), 520–532. </a:t>
            </a:r>
            <a:endParaRPr lang="en-US" sz="2600" b="1" dirty="0">
              <a:solidFill>
                <a:schemeClr val="bg2">
                  <a:lumMod val="25000"/>
                </a:schemeClr>
              </a:solidFill>
              <a:latin typeface="+mj-lt"/>
            </a:endParaRPr>
          </a:p>
        </p:txBody>
      </p:sp>
      <p:sp>
        <p:nvSpPr>
          <p:cNvPr id="104" name="TextBox 103">
            <a:extLst>
              <a:ext uri="{FF2B5EF4-FFF2-40B4-BE49-F238E27FC236}">
                <a16:creationId xmlns:a16="http://schemas.microsoft.com/office/drawing/2014/main" id="{1B9A1A8C-C1BE-1E45-9FC3-ECF6B6661F7F}"/>
              </a:ext>
            </a:extLst>
          </p:cNvPr>
          <p:cNvSpPr txBox="1"/>
          <p:nvPr/>
        </p:nvSpPr>
        <p:spPr>
          <a:xfrm>
            <a:off x="32963192" y="4557246"/>
            <a:ext cx="6541588" cy="1015663"/>
          </a:xfrm>
          <a:prstGeom prst="rect">
            <a:avLst/>
          </a:prstGeom>
          <a:noFill/>
        </p:spPr>
        <p:txBody>
          <a:bodyPr wrap="square" rtlCol="0">
            <a:spAutoFit/>
          </a:bodyPr>
          <a:lstStyle/>
          <a:p>
            <a:pPr algn="ctr">
              <a:spcAft>
                <a:spcPts val="1741"/>
              </a:spcAft>
            </a:pPr>
            <a:r>
              <a:rPr lang="en-US" sz="6000" b="1" dirty="0">
                <a:solidFill>
                  <a:srgbClr val="284655"/>
                </a:solidFill>
              </a:rPr>
              <a:t>RESULTS:</a:t>
            </a:r>
          </a:p>
        </p:txBody>
      </p:sp>
      <p:sp>
        <p:nvSpPr>
          <p:cNvPr id="161" name="TextBox 160">
            <a:extLst>
              <a:ext uri="{FF2B5EF4-FFF2-40B4-BE49-F238E27FC236}">
                <a16:creationId xmlns:a16="http://schemas.microsoft.com/office/drawing/2014/main" id="{6C0DD0B7-68BC-CC44-9FAC-D95A3A9F0A54}"/>
              </a:ext>
            </a:extLst>
          </p:cNvPr>
          <p:cNvSpPr txBox="1"/>
          <p:nvPr/>
        </p:nvSpPr>
        <p:spPr>
          <a:xfrm>
            <a:off x="2409758" y="14038998"/>
            <a:ext cx="8974561" cy="1015663"/>
          </a:xfrm>
          <a:prstGeom prst="rect">
            <a:avLst/>
          </a:prstGeom>
          <a:noFill/>
        </p:spPr>
        <p:txBody>
          <a:bodyPr wrap="square" rtlCol="0">
            <a:spAutoFit/>
          </a:bodyPr>
          <a:lstStyle/>
          <a:p>
            <a:pPr algn="ctr">
              <a:spcAft>
                <a:spcPts val="1741"/>
              </a:spcAft>
            </a:pPr>
            <a:r>
              <a:rPr lang="en-US" sz="6000" b="1" dirty="0">
                <a:solidFill>
                  <a:srgbClr val="284655"/>
                </a:solidFill>
              </a:rPr>
              <a:t>Questions/Hypotheses</a:t>
            </a:r>
          </a:p>
        </p:txBody>
      </p:sp>
      <p:pic>
        <p:nvPicPr>
          <p:cNvPr id="17" name="Graphic 16" descr="Books with solid fill">
            <a:extLst>
              <a:ext uri="{FF2B5EF4-FFF2-40B4-BE49-F238E27FC236}">
                <a16:creationId xmlns:a16="http://schemas.microsoft.com/office/drawing/2014/main" id="{52B97F07-A011-27E4-A99C-8B8E1956D74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1527" y="4477970"/>
            <a:ext cx="1300602" cy="1321451"/>
          </a:xfrm>
          <a:prstGeom prst="rect">
            <a:avLst/>
          </a:prstGeom>
        </p:spPr>
      </p:pic>
      <p:pic>
        <p:nvPicPr>
          <p:cNvPr id="19" name="Graphic 18" descr="Boot with solid fill">
            <a:extLst>
              <a:ext uri="{FF2B5EF4-FFF2-40B4-BE49-F238E27FC236}">
                <a16:creationId xmlns:a16="http://schemas.microsoft.com/office/drawing/2014/main" id="{FCC06FAC-7311-9197-FF8B-0F296DD0258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803" y="14546829"/>
            <a:ext cx="1286982" cy="1286982"/>
          </a:xfrm>
          <a:prstGeom prst="rect">
            <a:avLst/>
          </a:prstGeom>
        </p:spPr>
      </p:pic>
      <p:sp>
        <p:nvSpPr>
          <p:cNvPr id="24" name="TextBox 23">
            <a:extLst>
              <a:ext uri="{FF2B5EF4-FFF2-40B4-BE49-F238E27FC236}">
                <a16:creationId xmlns:a16="http://schemas.microsoft.com/office/drawing/2014/main" id="{99B2611D-AC40-CCBD-AF5A-4249606EBBC9}"/>
              </a:ext>
            </a:extLst>
          </p:cNvPr>
          <p:cNvSpPr txBox="1"/>
          <p:nvPr/>
        </p:nvSpPr>
        <p:spPr>
          <a:xfrm rot="16200000">
            <a:off x="11386948" y="19439545"/>
            <a:ext cx="6366754" cy="1015663"/>
          </a:xfrm>
          <a:prstGeom prst="rect">
            <a:avLst/>
          </a:prstGeom>
          <a:noFill/>
        </p:spPr>
        <p:txBody>
          <a:bodyPr wrap="square" rtlCol="0">
            <a:spAutoFit/>
          </a:bodyPr>
          <a:lstStyle/>
          <a:p>
            <a:pPr algn="ctr">
              <a:spcAft>
                <a:spcPts val="1741"/>
              </a:spcAft>
            </a:pPr>
            <a:r>
              <a:rPr lang="en-US" sz="6000" b="1" dirty="0">
                <a:solidFill>
                  <a:srgbClr val="284655"/>
                </a:solidFill>
              </a:rPr>
              <a:t>Water Potentials</a:t>
            </a:r>
            <a:endParaRPr lang="en-US" sz="4400" b="1" dirty="0">
              <a:solidFill>
                <a:srgbClr val="284655"/>
              </a:solidFill>
            </a:endParaRPr>
          </a:p>
        </p:txBody>
      </p:sp>
      <p:sp>
        <p:nvSpPr>
          <p:cNvPr id="39" name="TextBox 38">
            <a:extLst>
              <a:ext uri="{FF2B5EF4-FFF2-40B4-BE49-F238E27FC236}">
                <a16:creationId xmlns:a16="http://schemas.microsoft.com/office/drawing/2014/main" id="{9BFB2D60-AC1A-4B67-C121-0417A286B126}"/>
              </a:ext>
            </a:extLst>
          </p:cNvPr>
          <p:cNvSpPr txBox="1"/>
          <p:nvPr/>
        </p:nvSpPr>
        <p:spPr>
          <a:xfrm rot="16200000">
            <a:off x="12147920" y="8593364"/>
            <a:ext cx="6366756" cy="1938992"/>
          </a:xfrm>
          <a:prstGeom prst="rect">
            <a:avLst/>
          </a:prstGeom>
          <a:noFill/>
        </p:spPr>
        <p:txBody>
          <a:bodyPr wrap="square" rtlCol="0">
            <a:spAutoFit/>
          </a:bodyPr>
          <a:lstStyle/>
          <a:p>
            <a:pPr algn="ctr">
              <a:spcAft>
                <a:spcPts val="1741"/>
              </a:spcAft>
            </a:pPr>
            <a:r>
              <a:rPr lang="en-US" sz="6000" b="1" dirty="0">
                <a:solidFill>
                  <a:srgbClr val="284655"/>
                </a:solidFill>
              </a:rPr>
              <a:t>Leaf Angle Methods</a:t>
            </a:r>
            <a:endParaRPr lang="en-US" sz="4400" b="1" dirty="0">
              <a:solidFill>
                <a:srgbClr val="284655"/>
              </a:solidFill>
            </a:endParaRPr>
          </a:p>
        </p:txBody>
      </p:sp>
      <p:sp>
        <p:nvSpPr>
          <p:cNvPr id="51" name="AutoShape 8">
            <a:extLst>
              <a:ext uri="{FF2B5EF4-FFF2-40B4-BE49-F238E27FC236}">
                <a16:creationId xmlns:a16="http://schemas.microsoft.com/office/drawing/2014/main" id="{28DFF3B2-DB3F-97BD-0706-BC5D79A5F2F7}"/>
              </a:ext>
            </a:extLst>
          </p:cNvPr>
          <p:cNvSpPr>
            <a:spLocks noChangeAspect="1" noChangeArrowheads="1"/>
          </p:cNvSpPr>
          <p:nvPr/>
        </p:nvSpPr>
        <p:spPr bwMode="auto">
          <a:xfrm>
            <a:off x="21793200" y="16306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AutoShape 12">
            <a:extLst>
              <a:ext uri="{FF2B5EF4-FFF2-40B4-BE49-F238E27FC236}">
                <a16:creationId xmlns:a16="http://schemas.microsoft.com/office/drawing/2014/main" id="{4B7736B4-2F66-582F-A748-ACE78410DBD5}"/>
              </a:ext>
            </a:extLst>
          </p:cNvPr>
          <p:cNvSpPr>
            <a:spLocks noChangeAspect="1" noChangeArrowheads="1"/>
          </p:cNvSpPr>
          <p:nvPr/>
        </p:nvSpPr>
        <p:spPr bwMode="auto">
          <a:xfrm>
            <a:off x="21945600" y="16459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7" name="TextBox 136">
            <a:extLst>
              <a:ext uri="{FF2B5EF4-FFF2-40B4-BE49-F238E27FC236}">
                <a16:creationId xmlns:a16="http://schemas.microsoft.com/office/drawing/2014/main" id="{6C26A3DC-58C0-C3A2-DA2C-4522F9108AE9}"/>
              </a:ext>
            </a:extLst>
          </p:cNvPr>
          <p:cNvSpPr txBox="1"/>
          <p:nvPr/>
        </p:nvSpPr>
        <p:spPr>
          <a:xfrm>
            <a:off x="15199437" y="28622524"/>
            <a:ext cx="13187526" cy="1815882"/>
          </a:xfrm>
          <a:prstGeom prst="rect">
            <a:avLst/>
          </a:prstGeom>
          <a:noFill/>
        </p:spPr>
        <p:txBody>
          <a:bodyPr wrap="square" rtlCol="0">
            <a:spAutoFit/>
          </a:bodyPr>
          <a:lstStyle/>
          <a:p>
            <a:pPr>
              <a:spcAft>
                <a:spcPts val="1741"/>
              </a:spcAft>
            </a:pPr>
            <a:r>
              <a:rPr lang="en-US" sz="2800" dirty="0">
                <a:solidFill>
                  <a:schemeClr val="bg2">
                    <a:lumMod val="25000"/>
                  </a:schemeClr>
                </a:solidFill>
                <a:latin typeface="+mj-lt"/>
              </a:rPr>
              <a:t>Fig. 4. Variation in end of season leaf area to sapwood area ratio across trees of different size classes and at different sites (means +/- </a:t>
            </a:r>
            <a:r>
              <a:rPr lang="en-US" sz="2800" dirty="0" err="1">
                <a:solidFill>
                  <a:schemeClr val="bg2">
                    <a:lumMod val="25000"/>
                  </a:schemeClr>
                </a:solidFill>
                <a:latin typeface="+mj-lt"/>
              </a:rPr>
              <a:t>sd</a:t>
            </a:r>
            <a:r>
              <a:rPr lang="en-US" sz="2800" dirty="0">
                <a:solidFill>
                  <a:schemeClr val="bg2">
                    <a:lumMod val="25000"/>
                  </a:schemeClr>
                </a:solidFill>
                <a:latin typeface="+mj-lt"/>
              </a:rPr>
              <a:t>). Al:As measured in 5-8 trees of each size class per site in August 2023. Significant differences indicated in upper left corner (no sig. differences for CADE, or across size classes at a given site for any species).</a:t>
            </a:r>
          </a:p>
        </p:txBody>
      </p:sp>
      <p:pic>
        <p:nvPicPr>
          <p:cNvPr id="1040" name="Picture 16">
            <a:extLst>
              <a:ext uri="{FF2B5EF4-FFF2-40B4-BE49-F238E27FC236}">
                <a16:creationId xmlns:a16="http://schemas.microsoft.com/office/drawing/2014/main" id="{8FBE4B96-BAA1-06B8-EA71-FD9FB48B67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0749020" y="418400"/>
            <a:ext cx="3227467" cy="2420599"/>
          </a:xfrm>
          <a:prstGeom prst="rect">
            <a:avLst/>
          </a:prstGeom>
          <a:noFill/>
          <a:extLst>
            <a:ext uri="{909E8E84-426E-40DD-AFC4-6F175D3DCCD1}">
              <a14:hiddenFill xmlns:a14="http://schemas.microsoft.com/office/drawing/2010/main">
                <a:solidFill>
                  <a:srgbClr val="FFFFFF"/>
                </a:solidFill>
              </a14:hiddenFill>
            </a:ext>
          </a:extLst>
        </p:spPr>
      </p:pic>
      <p:pic>
        <p:nvPicPr>
          <p:cNvPr id="160" name="Graphic 159" descr="Forest scene with solid fill">
            <a:extLst>
              <a:ext uri="{FF2B5EF4-FFF2-40B4-BE49-F238E27FC236}">
                <a16:creationId xmlns:a16="http://schemas.microsoft.com/office/drawing/2014/main" id="{6504FE88-7D04-7272-58A8-91379F0F07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9035367" y="4445790"/>
            <a:ext cx="1363592" cy="1363592"/>
          </a:xfrm>
          <a:prstGeom prst="rect">
            <a:avLst/>
          </a:prstGeom>
        </p:spPr>
      </p:pic>
      <p:sp>
        <p:nvSpPr>
          <p:cNvPr id="168" name="TextBox 167">
            <a:extLst>
              <a:ext uri="{FF2B5EF4-FFF2-40B4-BE49-F238E27FC236}">
                <a16:creationId xmlns:a16="http://schemas.microsoft.com/office/drawing/2014/main" id="{C25395FF-928B-BD87-088C-A63E929FDBD9}"/>
              </a:ext>
            </a:extLst>
          </p:cNvPr>
          <p:cNvSpPr txBox="1"/>
          <p:nvPr/>
        </p:nvSpPr>
        <p:spPr>
          <a:xfrm>
            <a:off x="32495285" y="6282969"/>
            <a:ext cx="6366754" cy="5632311"/>
          </a:xfrm>
          <a:prstGeom prst="rect">
            <a:avLst/>
          </a:prstGeom>
          <a:noFill/>
        </p:spPr>
        <p:txBody>
          <a:bodyPr wrap="square" rtlCol="0">
            <a:spAutoFit/>
          </a:bodyPr>
          <a:lstStyle/>
          <a:p>
            <a:pPr algn="ctr">
              <a:spcAft>
                <a:spcPts val="1741"/>
              </a:spcAft>
            </a:pPr>
            <a:r>
              <a:rPr lang="en-US" sz="6000" b="1" dirty="0">
                <a:solidFill>
                  <a:srgbClr val="284655"/>
                </a:solidFill>
              </a:rPr>
              <a:t>Mean and standard deviation of leaf angles for the two species (boxplot of species angles size by side</a:t>
            </a:r>
            <a:endParaRPr lang="en-US" sz="4400" b="1" dirty="0">
              <a:solidFill>
                <a:srgbClr val="284655"/>
              </a:solidFill>
            </a:endParaRPr>
          </a:p>
        </p:txBody>
      </p:sp>
      <p:sp>
        <p:nvSpPr>
          <p:cNvPr id="169" name="TextBox 168">
            <a:extLst>
              <a:ext uri="{FF2B5EF4-FFF2-40B4-BE49-F238E27FC236}">
                <a16:creationId xmlns:a16="http://schemas.microsoft.com/office/drawing/2014/main" id="{7B0E8398-C137-4C79-C265-B4C5611B1E6D}"/>
              </a:ext>
            </a:extLst>
          </p:cNvPr>
          <p:cNvSpPr txBox="1"/>
          <p:nvPr/>
        </p:nvSpPr>
        <p:spPr>
          <a:xfrm>
            <a:off x="3767003" y="4451941"/>
            <a:ext cx="6541588" cy="1133837"/>
          </a:xfrm>
          <a:prstGeom prst="rect">
            <a:avLst/>
          </a:prstGeom>
          <a:noFill/>
        </p:spPr>
        <p:txBody>
          <a:bodyPr wrap="square" rtlCol="0">
            <a:spAutoFit/>
          </a:bodyPr>
          <a:lstStyle/>
          <a:p>
            <a:pPr algn="ctr">
              <a:spcAft>
                <a:spcPts val="1741"/>
              </a:spcAft>
            </a:pPr>
            <a:r>
              <a:rPr lang="en-US" sz="6000" b="1" dirty="0">
                <a:solidFill>
                  <a:srgbClr val="284655"/>
                </a:solidFill>
              </a:rPr>
              <a:t>BACKGROUND</a:t>
            </a:r>
            <a:r>
              <a:rPr lang="en-US" sz="6768" b="1" dirty="0">
                <a:solidFill>
                  <a:srgbClr val="284655"/>
                </a:solidFill>
              </a:rPr>
              <a:t>:</a:t>
            </a:r>
          </a:p>
        </p:txBody>
      </p:sp>
      <p:sp>
        <p:nvSpPr>
          <p:cNvPr id="207" name="TextBox 206">
            <a:extLst>
              <a:ext uri="{FF2B5EF4-FFF2-40B4-BE49-F238E27FC236}">
                <a16:creationId xmlns:a16="http://schemas.microsoft.com/office/drawing/2014/main" id="{CB12464D-604D-89D5-9FA9-8F1DF3BC84FC}"/>
              </a:ext>
            </a:extLst>
          </p:cNvPr>
          <p:cNvSpPr txBox="1"/>
          <p:nvPr/>
        </p:nvSpPr>
        <p:spPr>
          <a:xfrm rot="16200000">
            <a:off x="-1428534" y="29026984"/>
            <a:ext cx="4626650" cy="1006963"/>
          </a:xfrm>
          <a:prstGeom prst="rect">
            <a:avLst/>
          </a:prstGeom>
          <a:noFill/>
        </p:spPr>
        <p:txBody>
          <a:bodyPr wrap="square" rtlCol="0">
            <a:spAutoFit/>
          </a:bodyPr>
          <a:lstStyle/>
          <a:p>
            <a:pPr algn="ctr">
              <a:spcAft>
                <a:spcPts val="1741"/>
              </a:spcAft>
            </a:pPr>
            <a:r>
              <a:rPr lang="en-US" sz="6000" b="1" dirty="0">
                <a:solidFill>
                  <a:srgbClr val="284655"/>
                </a:solidFill>
              </a:rPr>
              <a:t>Traits</a:t>
            </a:r>
            <a:endParaRPr lang="en-US" sz="4400" b="1" dirty="0">
              <a:solidFill>
                <a:srgbClr val="284655"/>
              </a:solidFill>
            </a:endParaRPr>
          </a:p>
        </p:txBody>
      </p:sp>
      <p:graphicFrame>
        <p:nvGraphicFramePr>
          <p:cNvPr id="209" name="Table 208">
            <a:extLst>
              <a:ext uri="{FF2B5EF4-FFF2-40B4-BE49-F238E27FC236}">
                <a16:creationId xmlns:a16="http://schemas.microsoft.com/office/drawing/2014/main" id="{B1577E9A-1C06-BF67-062B-EFEE0618784C}"/>
              </a:ext>
            </a:extLst>
          </p:cNvPr>
          <p:cNvGraphicFramePr>
            <a:graphicFrameLocks noGrp="1"/>
          </p:cNvGraphicFramePr>
          <p:nvPr>
            <p:extLst>
              <p:ext uri="{D42A27DB-BD31-4B8C-83A1-F6EECF244321}">
                <p14:modId xmlns:p14="http://schemas.microsoft.com/office/powerpoint/2010/main" val="2939880601"/>
              </p:ext>
            </p:extLst>
          </p:nvPr>
        </p:nvGraphicFramePr>
        <p:xfrm>
          <a:off x="1766312" y="27036304"/>
          <a:ext cx="11504150" cy="5109749"/>
        </p:xfrm>
        <a:graphic>
          <a:graphicData uri="http://schemas.openxmlformats.org/drawingml/2006/table">
            <a:tbl>
              <a:tblPr/>
              <a:tblGrid>
                <a:gridCol w="2352524">
                  <a:extLst>
                    <a:ext uri="{9D8B030D-6E8A-4147-A177-3AD203B41FA5}">
                      <a16:colId xmlns:a16="http://schemas.microsoft.com/office/drawing/2014/main" val="1412469433"/>
                    </a:ext>
                  </a:extLst>
                </a:gridCol>
                <a:gridCol w="9151626">
                  <a:extLst>
                    <a:ext uri="{9D8B030D-6E8A-4147-A177-3AD203B41FA5}">
                      <a16:colId xmlns:a16="http://schemas.microsoft.com/office/drawing/2014/main" val="2389129855"/>
                    </a:ext>
                  </a:extLst>
                </a:gridCol>
              </a:tblGrid>
              <a:tr h="498155">
                <a:tc>
                  <a:txBody>
                    <a:bodyPr/>
                    <a:lstStyle/>
                    <a:p>
                      <a:pPr rtl="0" fontAlgn="t">
                        <a:spcBef>
                          <a:spcPts val="0"/>
                        </a:spcBef>
                        <a:spcAft>
                          <a:spcPts val="0"/>
                        </a:spcAft>
                      </a:pPr>
                      <a:r>
                        <a:rPr lang="en-US" sz="3200" b="1" i="0" u="none" strike="noStrike" dirty="0">
                          <a:solidFill>
                            <a:srgbClr val="000000"/>
                          </a:solidFill>
                          <a:effectLst/>
                          <a:latin typeface="+mj-lt"/>
                        </a:rPr>
                        <a:t>   Variables</a:t>
                      </a:r>
                      <a:endParaRPr lang="en-US" sz="3200" dirty="0">
                        <a:effectLst/>
                        <a:latin typeface="+mj-lt"/>
                      </a:endParaRPr>
                    </a:p>
                  </a:txBody>
                  <a:tcPr marL="57150" marR="57150" marT="95250" marB="28575">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t">
                        <a:spcBef>
                          <a:spcPts val="0"/>
                        </a:spcBef>
                        <a:spcAft>
                          <a:spcPts val="0"/>
                        </a:spcAft>
                      </a:pPr>
                      <a:r>
                        <a:rPr lang="en-US" sz="3200" b="1" i="0" u="none" strike="noStrike" dirty="0">
                          <a:solidFill>
                            <a:srgbClr val="000000"/>
                          </a:solidFill>
                          <a:effectLst/>
                          <a:latin typeface="+mj-lt"/>
                        </a:rPr>
                        <a:t>Definition</a:t>
                      </a:r>
                      <a:endParaRPr lang="en-US" sz="3200" dirty="0">
                        <a:effectLst/>
                        <a:latin typeface="+mj-lt"/>
                      </a:endParaRPr>
                    </a:p>
                  </a:txBody>
                  <a:tcPr marL="57150" marR="57150" marT="95250" marB="28575">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6560309"/>
                  </a:ext>
                </a:extLst>
              </a:tr>
              <a:tr h="467264">
                <a:tc>
                  <a:txBody>
                    <a:bodyPr/>
                    <a:lstStyle/>
                    <a:p>
                      <a:pPr rtl="0" fontAlgn="t">
                        <a:spcBef>
                          <a:spcPts val="0"/>
                        </a:spcBef>
                        <a:spcAft>
                          <a:spcPts val="0"/>
                        </a:spcAft>
                      </a:pPr>
                      <a:r>
                        <a:rPr lang="en-US" sz="2800" b="0" i="0" u="none" strike="noStrike" dirty="0" err="1">
                          <a:solidFill>
                            <a:srgbClr val="000000"/>
                          </a:solidFill>
                          <a:effectLst/>
                          <a:latin typeface="+mj-lt"/>
                        </a:rPr>
                        <a:t>knative</a:t>
                      </a:r>
                      <a:endParaRPr lang="en-US" sz="2800" dirty="0">
                        <a:effectLst/>
                        <a:latin typeface="+mj-lt"/>
                      </a:endParaRP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tc>
                  <a:txBody>
                    <a:bodyPr/>
                    <a:lstStyle/>
                    <a:p>
                      <a:pPr marL="0" algn="l" defTabSz="4389120" rtl="0" eaLnBrk="1" fontAlgn="t" latinLnBrk="0" hangingPunct="1">
                        <a:spcBef>
                          <a:spcPts val="0"/>
                        </a:spcBef>
                        <a:spcAft>
                          <a:spcPts val="0"/>
                        </a:spcAft>
                      </a:pPr>
                      <a:r>
                        <a:rPr lang="en-US" sz="2800" dirty="0">
                          <a:effectLst/>
                          <a:latin typeface="+mj-lt"/>
                        </a:rPr>
                        <a:t>Hydraulic conductivity; water movement through stems</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extLst>
                  <a:ext uri="{0D108BD9-81ED-4DB2-BD59-A6C34878D82A}">
                    <a16:rowId xmlns:a16="http://schemas.microsoft.com/office/drawing/2014/main" val="3565318891"/>
                  </a:ext>
                </a:extLst>
              </a:tr>
              <a:tr h="518176">
                <a:tc>
                  <a:txBody>
                    <a:bodyPr/>
                    <a:lstStyle/>
                    <a:p>
                      <a:pPr rtl="0" fontAlgn="t">
                        <a:spcBef>
                          <a:spcPts val="0"/>
                        </a:spcBef>
                        <a:spcAft>
                          <a:spcPts val="0"/>
                        </a:spcAft>
                      </a:pPr>
                      <a:r>
                        <a:rPr lang="en-US" sz="2800" b="0" i="0" u="none" strike="noStrike" dirty="0">
                          <a:solidFill>
                            <a:srgbClr val="000000"/>
                          </a:solidFill>
                          <a:effectLst/>
                          <a:latin typeface="+mj-lt"/>
                        </a:rPr>
                        <a:t>Transpirative drop</a:t>
                      </a:r>
                      <a:endParaRPr lang="en-US" sz="2800" dirty="0">
                        <a:effectLst/>
                        <a:latin typeface="+mj-lt"/>
                      </a:endParaRP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tc>
                  <a:txBody>
                    <a:bodyPr/>
                    <a:lstStyle/>
                    <a:p>
                      <a:pPr marL="0" algn="l" defTabSz="4389120" rtl="0" eaLnBrk="1" fontAlgn="t" latinLnBrk="0" hangingPunct="1">
                        <a:spcBef>
                          <a:spcPts val="0"/>
                        </a:spcBef>
                        <a:spcAft>
                          <a:spcPts val="0"/>
                        </a:spcAft>
                      </a:pPr>
                      <a:r>
                        <a:rPr lang="en-US" sz="2800" dirty="0">
                          <a:effectLst/>
                          <a:latin typeface="+mj-lt"/>
                        </a:rPr>
                        <a:t>Difference between predawn and midday water potential, indicates stomatal openness a evaporative demand</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extLst>
                  <a:ext uri="{0D108BD9-81ED-4DB2-BD59-A6C34878D82A}">
                    <a16:rowId xmlns:a16="http://schemas.microsoft.com/office/drawing/2014/main" val="1437525254"/>
                  </a:ext>
                </a:extLst>
              </a:tr>
              <a:tr h="642266">
                <a:tc>
                  <a:txBody>
                    <a:bodyPr/>
                    <a:lstStyle/>
                    <a:p>
                      <a:pPr rtl="0" fontAlgn="t">
                        <a:spcBef>
                          <a:spcPts val="0"/>
                        </a:spcBef>
                        <a:spcAft>
                          <a:spcPts val="0"/>
                        </a:spcAft>
                      </a:pPr>
                      <a:r>
                        <a:rPr lang="en-US" sz="2800" b="0" i="0" u="none" strike="noStrike">
                          <a:solidFill>
                            <a:srgbClr val="000000"/>
                          </a:solidFill>
                          <a:effectLst/>
                          <a:latin typeface="+mj-lt"/>
                        </a:rPr>
                        <a:t>Al:As</a:t>
                      </a:r>
                      <a:endParaRPr lang="en-US" sz="2800">
                        <a:effectLst/>
                        <a:latin typeface="+mj-lt"/>
                      </a:endParaRP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tc>
                  <a:txBody>
                    <a:bodyPr/>
                    <a:lstStyle/>
                    <a:p>
                      <a:pPr marL="0" algn="l" defTabSz="4389120" rtl="0" eaLnBrk="1" fontAlgn="t" latinLnBrk="0" hangingPunct="1">
                        <a:spcBef>
                          <a:spcPts val="0"/>
                        </a:spcBef>
                        <a:spcAft>
                          <a:spcPts val="0"/>
                        </a:spcAft>
                      </a:pPr>
                      <a:r>
                        <a:rPr lang="en-US" sz="2800" dirty="0">
                          <a:effectLst/>
                          <a:latin typeface="+mj-lt"/>
                        </a:rPr>
                        <a:t>Leaf area to sapwood area ratio; indicates allocation to photosynthesis vs. water supply to leaves</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extLst>
                  <a:ext uri="{0D108BD9-81ED-4DB2-BD59-A6C34878D82A}">
                    <a16:rowId xmlns:a16="http://schemas.microsoft.com/office/drawing/2014/main" val="820361624"/>
                  </a:ext>
                </a:extLst>
              </a:tr>
              <a:tr h="438481">
                <a:tc>
                  <a:txBody>
                    <a:bodyPr/>
                    <a:lstStyle/>
                    <a:p>
                      <a:pPr rtl="0" fontAlgn="t">
                        <a:spcBef>
                          <a:spcPts val="0"/>
                        </a:spcBef>
                        <a:spcAft>
                          <a:spcPts val="0"/>
                        </a:spcAft>
                      </a:pPr>
                      <a:r>
                        <a:rPr lang="en-US" sz="2800" b="0" i="0" u="none" strike="noStrike">
                          <a:solidFill>
                            <a:srgbClr val="000000"/>
                          </a:solidFill>
                          <a:effectLst/>
                          <a:latin typeface="+mj-lt"/>
                        </a:rPr>
                        <a:t>LMA</a:t>
                      </a:r>
                      <a:endParaRPr lang="en-US" sz="2800">
                        <a:effectLst/>
                        <a:latin typeface="+mj-lt"/>
                      </a:endParaRP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tc>
                  <a:txBody>
                    <a:bodyPr/>
                    <a:lstStyle/>
                    <a:p>
                      <a:pPr marL="0" algn="l" defTabSz="4389120" rtl="0" eaLnBrk="1" fontAlgn="t" latinLnBrk="0" hangingPunct="1">
                        <a:spcBef>
                          <a:spcPts val="0"/>
                        </a:spcBef>
                        <a:spcAft>
                          <a:spcPts val="0"/>
                        </a:spcAft>
                      </a:pPr>
                      <a:r>
                        <a:rPr lang="en-US" sz="2800" dirty="0">
                          <a:effectLst/>
                          <a:latin typeface="+mj-lt"/>
                        </a:rPr>
                        <a:t>Leaf mass per area</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extLst>
                  <a:ext uri="{0D108BD9-81ED-4DB2-BD59-A6C34878D82A}">
                    <a16:rowId xmlns:a16="http://schemas.microsoft.com/office/drawing/2014/main" val="1905024319"/>
                  </a:ext>
                </a:extLst>
              </a:tr>
              <a:tr h="642266">
                <a:tc>
                  <a:txBody>
                    <a:bodyPr/>
                    <a:lstStyle/>
                    <a:p>
                      <a:pPr rtl="0" fontAlgn="t">
                        <a:spcBef>
                          <a:spcPts val="0"/>
                        </a:spcBef>
                        <a:spcAft>
                          <a:spcPts val="0"/>
                        </a:spcAft>
                      </a:pPr>
                      <a:r>
                        <a:rPr lang="en-US" sz="2800" b="0" i="0" u="none" strike="noStrike">
                          <a:solidFill>
                            <a:srgbClr val="000000"/>
                          </a:solidFill>
                          <a:effectLst/>
                          <a:latin typeface="+mj-lt"/>
                        </a:rPr>
                        <a:t>P50</a:t>
                      </a:r>
                      <a:endParaRPr lang="en-US" sz="2800">
                        <a:effectLst/>
                        <a:latin typeface="+mj-lt"/>
                      </a:endParaRP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tc>
                  <a:txBody>
                    <a:bodyPr/>
                    <a:lstStyle/>
                    <a:p>
                      <a:pPr marL="0" algn="l" defTabSz="4389120" rtl="0" eaLnBrk="1" fontAlgn="t" latinLnBrk="0" hangingPunct="1">
                        <a:spcBef>
                          <a:spcPts val="0"/>
                        </a:spcBef>
                        <a:spcAft>
                          <a:spcPts val="0"/>
                        </a:spcAft>
                      </a:pPr>
                      <a:r>
                        <a:rPr lang="en-US" sz="2800" dirty="0">
                          <a:effectLst/>
                          <a:latin typeface="+mj-lt"/>
                        </a:rPr>
                        <a:t>Water potential at which 50% of conductivity is lost; indicates vulnerability to drought</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extLst>
                  <a:ext uri="{0D108BD9-81ED-4DB2-BD59-A6C34878D82A}">
                    <a16:rowId xmlns:a16="http://schemas.microsoft.com/office/drawing/2014/main" val="711089133"/>
                  </a:ext>
                </a:extLst>
              </a:tr>
              <a:tr h="642266">
                <a:tc>
                  <a:txBody>
                    <a:bodyPr/>
                    <a:lstStyle/>
                    <a:p>
                      <a:pPr rtl="0" fontAlgn="t">
                        <a:spcBef>
                          <a:spcPts val="0"/>
                        </a:spcBef>
                        <a:spcAft>
                          <a:spcPts val="0"/>
                        </a:spcAft>
                      </a:pPr>
                      <a:r>
                        <a:rPr lang="en-US" sz="2800" dirty="0">
                          <a:effectLst/>
                          <a:latin typeface="+mj-lt"/>
                        </a:rPr>
                        <a:t>HSM</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tc>
                  <a:txBody>
                    <a:bodyPr/>
                    <a:lstStyle/>
                    <a:p>
                      <a:pPr marL="0" algn="l" defTabSz="4389120" rtl="0" eaLnBrk="1" fontAlgn="t" latinLnBrk="0" hangingPunct="1">
                        <a:spcBef>
                          <a:spcPts val="0"/>
                        </a:spcBef>
                        <a:spcAft>
                          <a:spcPts val="0"/>
                        </a:spcAft>
                      </a:pPr>
                      <a:r>
                        <a:rPr lang="en-US" sz="2800" dirty="0">
                          <a:effectLst/>
                          <a:latin typeface="+mj-lt"/>
                        </a:rPr>
                        <a:t>Hydraulic safety margin; difference between lowest seasonal water potentials and P50</a:t>
                      </a:r>
                    </a:p>
                  </a:txBody>
                  <a:tcPr marL="57150" marR="57150" marT="19050" marB="190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tcPr>
                </a:tc>
                <a:extLst>
                  <a:ext uri="{0D108BD9-81ED-4DB2-BD59-A6C34878D82A}">
                    <a16:rowId xmlns:a16="http://schemas.microsoft.com/office/drawing/2014/main" val="1666074750"/>
                  </a:ext>
                </a:extLst>
              </a:tr>
            </a:tbl>
          </a:graphicData>
        </a:graphic>
      </p:graphicFrame>
      <p:sp>
        <p:nvSpPr>
          <p:cNvPr id="49" name="TextBox 48">
            <a:extLst>
              <a:ext uri="{FF2B5EF4-FFF2-40B4-BE49-F238E27FC236}">
                <a16:creationId xmlns:a16="http://schemas.microsoft.com/office/drawing/2014/main" id="{8AC91367-9250-A74B-A537-2E8EC3CF905A}"/>
              </a:ext>
            </a:extLst>
          </p:cNvPr>
          <p:cNvSpPr txBox="1"/>
          <p:nvPr/>
        </p:nvSpPr>
        <p:spPr>
          <a:xfrm>
            <a:off x="15716953" y="17567351"/>
            <a:ext cx="12762093" cy="3108543"/>
          </a:xfrm>
          <a:prstGeom prst="rect">
            <a:avLst/>
          </a:prstGeom>
          <a:noFill/>
        </p:spPr>
        <p:txBody>
          <a:bodyPr wrap="square" rtlCol="0">
            <a:spAutoFit/>
          </a:bodyPr>
          <a:lstStyle/>
          <a:p>
            <a:pPr>
              <a:spcAft>
                <a:spcPts val="1741"/>
              </a:spcAft>
            </a:pPr>
            <a:r>
              <a:rPr lang="en-US" sz="2800" dirty="0">
                <a:solidFill>
                  <a:schemeClr val="bg2">
                    <a:lumMod val="25000"/>
                  </a:schemeClr>
                </a:solidFill>
                <a:latin typeface="+mj-lt"/>
              </a:rPr>
              <a:t>Fig. 3. Predawn and Midday water potentials measured in July 2023 (means +/- </a:t>
            </a:r>
            <a:r>
              <a:rPr lang="en-US" sz="2800" dirty="0" err="1">
                <a:solidFill>
                  <a:schemeClr val="bg2">
                    <a:lumMod val="25000"/>
                  </a:schemeClr>
                </a:solidFill>
                <a:latin typeface="+mj-lt"/>
              </a:rPr>
              <a:t>sd</a:t>
            </a:r>
            <a:r>
              <a:rPr lang="en-US" sz="2800" dirty="0">
                <a:solidFill>
                  <a:schemeClr val="bg2">
                    <a:lumMod val="25000"/>
                  </a:schemeClr>
                </a:solidFill>
                <a:latin typeface="+mj-lt"/>
              </a:rPr>
              <a:t>). Filled triangles indicate predawn measurements height-adjusted to ground level, and filled circles indicate midday measurements height-adjusted to top of tree (e.g. including increases in water potential due to gravity alone). Open circles indicate midday measurements of large trees adjusted to ground level, such that the difference between dark blue open and closed circles represents the effect of gravity. Significant relationships indicated in left corners (no sig. differences for PILA). </a:t>
            </a:r>
          </a:p>
        </p:txBody>
      </p:sp>
      <p:sp>
        <p:nvSpPr>
          <p:cNvPr id="220" name="TextBox 219">
            <a:extLst>
              <a:ext uri="{FF2B5EF4-FFF2-40B4-BE49-F238E27FC236}">
                <a16:creationId xmlns:a16="http://schemas.microsoft.com/office/drawing/2014/main" id="{E1E0103D-EDB6-C6CE-71FF-DD46F308D001}"/>
              </a:ext>
            </a:extLst>
          </p:cNvPr>
          <p:cNvSpPr txBox="1"/>
          <p:nvPr/>
        </p:nvSpPr>
        <p:spPr>
          <a:xfrm>
            <a:off x="30522979" y="12367098"/>
            <a:ext cx="12325931" cy="2246769"/>
          </a:xfrm>
          <a:prstGeom prst="rect">
            <a:avLst/>
          </a:prstGeom>
          <a:noFill/>
        </p:spPr>
        <p:txBody>
          <a:bodyPr wrap="square" rtlCol="0">
            <a:spAutoFit/>
          </a:bodyPr>
          <a:lstStyle/>
          <a:p>
            <a:pPr>
              <a:spcAft>
                <a:spcPts val="1741"/>
              </a:spcAft>
            </a:pPr>
            <a:r>
              <a:rPr lang="en-US" sz="2800" dirty="0">
                <a:solidFill>
                  <a:schemeClr val="bg2">
                    <a:lumMod val="25000"/>
                  </a:schemeClr>
                </a:solidFill>
                <a:latin typeface="+mj-lt"/>
              </a:rPr>
              <a:t>Fig. 5. Difference in hydraulic safety margin (HSM) across large and small trees at wet and dry sites. HSM is the difference between the water potential at which 50% of xylem conductivity is lost (-MPa) and the minimum water potential measured under field conditions (midday water potential, -MPa). Larger HSMs indicate higher safety for trees (e.g. lower vulnerability to drought-induced mortality). </a:t>
            </a:r>
          </a:p>
        </p:txBody>
      </p:sp>
      <p:pic>
        <p:nvPicPr>
          <p:cNvPr id="223" name="Picture 222" descr="A green and black logo&#10;&#10;Description automatically generated">
            <a:extLst>
              <a:ext uri="{FF2B5EF4-FFF2-40B4-BE49-F238E27FC236}">
                <a16:creationId xmlns:a16="http://schemas.microsoft.com/office/drawing/2014/main" id="{BB3D119D-8A68-EBF1-F87F-1E89872B3A6A}"/>
              </a:ext>
            </a:extLst>
          </p:cNvPr>
          <p:cNvPicPr>
            <a:picLocks noChangeAspect="1"/>
          </p:cNvPicPr>
          <p:nvPr/>
        </p:nvPicPr>
        <p:blipFill>
          <a:blip r:embed="rId10">
            <a:biLevel thresh="50000"/>
          </a:blip>
          <a:stretch>
            <a:fillRect/>
          </a:stretch>
        </p:blipFill>
        <p:spPr>
          <a:xfrm>
            <a:off x="41638276" y="2910801"/>
            <a:ext cx="1448954" cy="560501"/>
          </a:xfrm>
          <a:prstGeom prst="rect">
            <a:avLst/>
          </a:prstGeom>
        </p:spPr>
      </p:pic>
      <p:sp>
        <p:nvSpPr>
          <p:cNvPr id="141" name="TextBox 140">
            <a:extLst>
              <a:ext uri="{FF2B5EF4-FFF2-40B4-BE49-F238E27FC236}">
                <a16:creationId xmlns:a16="http://schemas.microsoft.com/office/drawing/2014/main" id="{15AD9329-DCFA-2667-EEE0-05988447A873}"/>
              </a:ext>
            </a:extLst>
          </p:cNvPr>
          <p:cNvSpPr txBox="1"/>
          <p:nvPr/>
        </p:nvSpPr>
        <p:spPr>
          <a:xfrm>
            <a:off x="29468679" y="25381221"/>
            <a:ext cx="14902369" cy="830997"/>
          </a:xfrm>
          <a:prstGeom prst="rect">
            <a:avLst/>
          </a:prstGeom>
          <a:noFill/>
        </p:spPr>
        <p:txBody>
          <a:bodyPr wrap="square" rtlCol="0">
            <a:spAutoFit/>
          </a:bodyPr>
          <a:lstStyle/>
          <a:p>
            <a:pPr>
              <a:spcAft>
                <a:spcPts val="1741"/>
              </a:spcAft>
            </a:pPr>
            <a:r>
              <a:rPr lang="en-US" sz="4800" b="1" dirty="0">
                <a:solidFill>
                  <a:srgbClr val="ECE7E2"/>
                </a:solidFill>
              </a:rPr>
              <a:t>Conclusion/main takeaways.</a:t>
            </a:r>
          </a:p>
        </p:txBody>
      </p:sp>
      <p:sp>
        <p:nvSpPr>
          <p:cNvPr id="82" name="TextBox 81">
            <a:extLst>
              <a:ext uri="{FF2B5EF4-FFF2-40B4-BE49-F238E27FC236}">
                <a16:creationId xmlns:a16="http://schemas.microsoft.com/office/drawing/2014/main" id="{72321696-FCE6-3742-8D12-C5EDED447AFD}"/>
              </a:ext>
            </a:extLst>
          </p:cNvPr>
          <p:cNvSpPr txBox="1"/>
          <p:nvPr/>
        </p:nvSpPr>
        <p:spPr>
          <a:xfrm>
            <a:off x="18424290" y="4647310"/>
            <a:ext cx="5184404" cy="1015663"/>
          </a:xfrm>
          <a:prstGeom prst="rect">
            <a:avLst/>
          </a:prstGeom>
          <a:noFill/>
        </p:spPr>
        <p:txBody>
          <a:bodyPr wrap="square" rtlCol="0">
            <a:spAutoFit/>
          </a:bodyPr>
          <a:lstStyle/>
          <a:p>
            <a:pPr algn="ctr">
              <a:spcAft>
                <a:spcPts val="1741"/>
              </a:spcAft>
            </a:pPr>
            <a:r>
              <a:rPr lang="en-US" sz="6000" b="1" dirty="0">
                <a:solidFill>
                  <a:schemeClr val="bg2">
                    <a:lumMod val="25000"/>
                  </a:schemeClr>
                </a:solidFill>
              </a:rPr>
              <a:t>METHODS</a:t>
            </a:r>
            <a:endParaRPr lang="en-US" sz="4400" b="1" dirty="0">
              <a:solidFill>
                <a:schemeClr val="bg2">
                  <a:lumMod val="25000"/>
                </a:schemeClr>
              </a:solidFill>
            </a:endParaRPr>
          </a:p>
        </p:txBody>
      </p:sp>
      <p:sp>
        <p:nvSpPr>
          <p:cNvPr id="224" name="TextBox 223">
            <a:extLst>
              <a:ext uri="{FF2B5EF4-FFF2-40B4-BE49-F238E27FC236}">
                <a16:creationId xmlns:a16="http://schemas.microsoft.com/office/drawing/2014/main" id="{D6670101-1929-ECB8-09BD-2B185AF5C2FB}"/>
              </a:ext>
            </a:extLst>
          </p:cNvPr>
          <p:cNvSpPr txBox="1"/>
          <p:nvPr/>
        </p:nvSpPr>
        <p:spPr>
          <a:xfrm>
            <a:off x="4777808" y="15511411"/>
            <a:ext cx="4626650" cy="9274334"/>
          </a:xfrm>
          <a:prstGeom prst="rect">
            <a:avLst/>
          </a:prstGeom>
          <a:noFill/>
        </p:spPr>
        <p:txBody>
          <a:bodyPr wrap="square" rtlCol="0">
            <a:spAutoFit/>
          </a:bodyPr>
          <a:lstStyle/>
          <a:p>
            <a:pPr algn="ctr">
              <a:spcAft>
                <a:spcPts val="1741"/>
              </a:spcAft>
            </a:pPr>
            <a:r>
              <a:rPr lang="en-US" sz="6000" b="1" dirty="0">
                <a:solidFill>
                  <a:srgbClr val="284655"/>
                </a:solidFill>
              </a:rPr>
              <a:t>Text and diagrams</a:t>
            </a:r>
          </a:p>
          <a:p>
            <a:pPr algn="ctr">
              <a:spcAft>
                <a:spcPts val="1741"/>
              </a:spcAft>
            </a:pPr>
            <a:endParaRPr lang="en-US" sz="6000" b="1" dirty="0">
              <a:solidFill>
                <a:srgbClr val="284655"/>
              </a:solidFill>
            </a:endParaRPr>
          </a:p>
          <a:p>
            <a:pPr algn="ctr">
              <a:spcAft>
                <a:spcPts val="1741"/>
              </a:spcAft>
            </a:pPr>
            <a:r>
              <a:rPr lang="en-US" sz="6000" b="1" dirty="0">
                <a:solidFill>
                  <a:srgbClr val="284655"/>
                </a:solidFill>
              </a:rPr>
              <a:t>Diagram of what even is leaf angle </a:t>
            </a:r>
          </a:p>
          <a:p>
            <a:pPr algn="ctr">
              <a:spcAft>
                <a:spcPts val="1741"/>
              </a:spcAft>
            </a:pPr>
            <a:endParaRPr lang="en-US" sz="6000" b="1" dirty="0">
              <a:solidFill>
                <a:srgbClr val="284655"/>
              </a:solidFill>
            </a:endParaRPr>
          </a:p>
          <a:p>
            <a:pPr algn="ctr">
              <a:spcAft>
                <a:spcPts val="1741"/>
              </a:spcAft>
            </a:pPr>
            <a:r>
              <a:rPr lang="en-US" sz="6000" b="1" dirty="0">
                <a:solidFill>
                  <a:srgbClr val="284655"/>
                </a:solidFill>
              </a:rPr>
              <a:t>Graph of hypothesis</a:t>
            </a:r>
          </a:p>
        </p:txBody>
      </p:sp>
      <p:sp>
        <p:nvSpPr>
          <p:cNvPr id="239" name="TextBox 238">
            <a:extLst>
              <a:ext uri="{FF2B5EF4-FFF2-40B4-BE49-F238E27FC236}">
                <a16:creationId xmlns:a16="http://schemas.microsoft.com/office/drawing/2014/main" id="{D000B35B-295E-3964-A67F-416DDF8C39DF}"/>
              </a:ext>
            </a:extLst>
          </p:cNvPr>
          <p:cNvSpPr txBox="1"/>
          <p:nvPr/>
        </p:nvSpPr>
        <p:spPr>
          <a:xfrm>
            <a:off x="481919" y="2618958"/>
            <a:ext cx="41703083" cy="1938992"/>
          </a:xfrm>
          <a:prstGeom prst="rect">
            <a:avLst/>
          </a:prstGeom>
          <a:noFill/>
        </p:spPr>
        <p:txBody>
          <a:bodyPr wrap="none" rtlCol="0">
            <a:spAutoFit/>
          </a:bodyPr>
          <a:lstStyle/>
          <a:p>
            <a:r>
              <a:rPr lang="en-US" sz="6000" b="1" dirty="0">
                <a:solidFill>
                  <a:srgbClr val="ECE7E2"/>
                </a:solidFill>
                <a:latin typeface="+mj-lt"/>
                <a:ea typeface="Verdana" panose="020B0604030504040204" pitchFamily="34" charset="0"/>
                <a:cs typeface="Calibri" panose="020F0502020204030204" pitchFamily="34" charset="0"/>
              </a:rPr>
              <a:t>Indra Boving, Travis Britton, Kelly Kerr, Anna Trugman, Leander Anderegg                                                                             UC Santa Barbara </a:t>
            </a:r>
          </a:p>
          <a:p>
            <a:endParaRPr lang="en-US" sz="6000" dirty="0"/>
          </a:p>
        </p:txBody>
      </p:sp>
      <p:pic>
        <p:nvPicPr>
          <p:cNvPr id="241" name="Picture 240">
            <a:extLst>
              <a:ext uri="{FF2B5EF4-FFF2-40B4-BE49-F238E27FC236}">
                <a16:creationId xmlns:a16="http://schemas.microsoft.com/office/drawing/2014/main" id="{32131C94-0B43-503A-FBE1-E72ED79DB12C}"/>
              </a:ext>
            </a:extLst>
          </p:cNvPr>
          <p:cNvPicPr>
            <a:picLocks noChangeAspect="1"/>
          </p:cNvPicPr>
          <p:nvPr/>
        </p:nvPicPr>
        <p:blipFill rotWithShape="1">
          <a:blip r:embed="rId11"/>
          <a:srcRect t="1679"/>
          <a:stretch/>
        </p:blipFill>
        <p:spPr>
          <a:xfrm>
            <a:off x="14847452" y="22256794"/>
            <a:ext cx="13011436" cy="6276660"/>
          </a:xfrm>
          <a:prstGeom prst="rect">
            <a:avLst/>
          </a:prstGeom>
        </p:spPr>
      </p:pic>
      <p:pic>
        <p:nvPicPr>
          <p:cNvPr id="4" name="Picture 3">
            <a:extLst>
              <a:ext uri="{FF2B5EF4-FFF2-40B4-BE49-F238E27FC236}">
                <a16:creationId xmlns:a16="http://schemas.microsoft.com/office/drawing/2014/main" id="{9C5267BC-FE75-962E-679D-0AFED1137317}"/>
              </a:ext>
            </a:extLst>
          </p:cNvPr>
          <p:cNvPicPr>
            <a:picLocks noChangeAspect="1"/>
          </p:cNvPicPr>
          <p:nvPr/>
        </p:nvPicPr>
        <p:blipFill>
          <a:blip r:embed="rId12"/>
          <a:stretch>
            <a:fillRect/>
          </a:stretch>
        </p:blipFill>
        <p:spPr>
          <a:xfrm>
            <a:off x="38862039" y="5565988"/>
            <a:ext cx="3852145" cy="633716"/>
          </a:xfrm>
          <a:prstGeom prst="rect">
            <a:avLst/>
          </a:prstGeom>
        </p:spPr>
      </p:pic>
      <p:sp>
        <p:nvSpPr>
          <p:cNvPr id="5" name="TextBox 4">
            <a:extLst>
              <a:ext uri="{FF2B5EF4-FFF2-40B4-BE49-F238E27FC236}">
                <a16:creationId xmlns:a16="http://schemas.microsoft.com/office/drawing/2014/main" id="{3A117F83-55FB-6F3D-DB77-3B9CBA53A7E6}"/>
              </a:ext>
            </a:extLst>
          </p:cNvPr>
          <p:cNvSpPr txBox="1"/>
          <p:nvPr/>
        </p:nvSpPr>
        <p:spPr>
          <a:xfrm>
            <a:off x="32694394" y="15463953"/>
            <a:ext cx="6366754" cy="7478970"/>
          </a:xfrm>
          <a:prstGeom prst="rect">
            <a:avLst/>
          </a:prstGeom>
          <a:noFill/>
        </p:spPr>
        <p:txBody>
          <a:bodyPr wrap="square" rtlCol="0">
            <a:spAutoFit/>
          </a:bodyPr>
          <a:lstStyle/>
          <a:p>
            <a:pPr algn="ctr">
              <a:spcAft>
                <a:spcPts val="1741"/>
              </a:spcAft>
            </a:pPr>
            <a:r>
              <a:rPr lang="en-US" sz="6000" b="1" dirty="0">
                <a:solidFill>
                  <a:srgbClr val="284655"/>
                </a:solidFill>
              </a:rPr>
              <a:t>End of summer predawn vs. leaf angle for the day that has the strongest (highest R2 and/or P-value) scatterplot of </a:t>
            </a:r>
            <a:r>
              <a:rPr lang="en-US" sz="6000" b="1" dirty="0" err="1">
                <a:solidFill>
                  <a:srgbClr val="284655"/>
                </a:solidFill>
              </a:rPr>
              <a:t>thw</a:t>
            </a:r>
            <a:r>
              <a:rPr lang="en-US" sz="6000" b="1" dirty="0">
                <a:solidFill>
                  <a:srgbClr val="284655"/>
                </a:solidFill>
              </a:rPr>
              <a:t> two species</a:t>
            </a:r>
            <a:endParaRPr lang="en-US" sz="4400" b="1" dirty="0">
              <a:solidFill>
                <a:srgbClr val="284655"/>
              </a:solidFill>
            </a:endParaRPr>
          </a:p>
        </p:txBody>
      </p:sp>
    </p:spTree>
    <p:extLst>
      <p:ext uri="{BB962C8B-B14F-4D97-AF65-F5344CB8AC3E}">
        <p14:creationId xmlns:p14="http://schemas.microsoft.com/office/powerpoint/2010/main" val="97152919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12275</TotalTime>
  <Words>718</Words>
  <Application>Microsoft Macintosh PowerPoint</Application>
  <PresentationFormat>Custom</PresentationFormat>
  <Paragraphs>67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Slattery, Flynn Brian - slafb001</dc:creator>
  <cp:lastModifiedBy>Indra Boving</cp:lastModifiedBy>
  <cp:revision>126</cp:revision>
  <cp:lastPrinted>2022-06-03T18:16:44Z</cp:lastPrinted>
  <dcterms:created xsi:type="dcterms:W3CDTF">2019-04-24T06:12:18Z</dcterms:created>
  <dcterms:modified xsi:type="dcterms:W3CDTF">2026-04-17T20:55:15Z</dcterms:modified>
</cp:coreProperties>
</file>